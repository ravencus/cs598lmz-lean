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66" r:id="rId4"/>
    <p:sldId id="265" r:id="rId5"/>
    <p:sldId id="267" r:id="rId6"/>
    <p:sldId id="261" r:id="rId7"/>
    <p:sldId id="257" r:id="rId8"/>
    <p:sldId id="258" r:id="rId9"/>
    <p:sldId id="259" r:id="rId10"/>
    <p:sldId id="260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75411"/>
  </p:normalViewPr>
  <p:slideViewPr>
    <p:cSldViewPr snapToGrid="0">
      <p:cViewPr varScale="1">
        <p:scale>
          <a:sx n="94" d="100"/>
          <a:sy n="94" d="100"/>
        </p:scale>
        <p:origin x="18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4925F1-E6C5-A74F-82A9-DD46680C783F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D932D-E125-684C-9FDB-8A3DBA2B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05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1955, mathematicians began classifying all finite simple groups. It took 50 years, 500 papers, 15,000 pages, and over 100 mathematicians. The proof was finally</a:t>
            </a:r>
          </a:p>
          <a:p>
            <a:r>
              <a:rPr lang="en-US" dirty="0"/>
              <a:t>  completed in 2004. Then someone asked — can we make this understandable? A project </a:t>
            </a:r>
            <a:r>
              <a:rPr lang="en-US" altLang="zh-CN" dirty="0"/>
              <a:t>called</a:t>
            </a:r>
            <a:r>
              <a:rPr lang="zh-CN" altLang="en-US" dirty="0"/>
              <a:t> </a:t>
            </a:r>
            <a:r>
              <a:rPr lang="en-US" altLang="zh-CN" dirty="0"/>
              <a:t>GLS</a:t>
            </a:r>
            <a:r>
              <a:rPr lang="zh-CN" altLang="en-US" dirty="0"/>
              <a:t> </a:t>
            </a:r>
            <a:r>
              <a:rPr lang="en-US" dirty="0"/>
              <a:t>started in 1981 to write a simplified version. Twelve volumes planned. Forty-five  </a:t>
            </a:r>
          </a:p>
          <a:p>
            <a:r>
              <a:rPr lang="en-US" dirty="0"/>
              <a:t>  years later, nine are published</a:t>
            </a:r>
            <a:r>
              <a:rPr lang="zh-CN" altLang="en-US" dirty="0"/>
              <a:t> </a:t>
            </a:r>
            <a:r>
              <a:rPr lang="en-US" altLang="zh-CN" dirty="0"/>
              <a:t>and it's still ongoing</a:t>
            </a:r>
            <a:r>
              <a:rPr lang="en-US" dirty="0"/>
              <a:t>.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Now we're in the age of AI. We use AI to fix bugs, implement features, and now — prove theorems. But when an AI generates a 10,000-line GPU kernel or a massive formal</a:t>
            </a:r>
          </a:p>
          <a:p>
            <a:r>
              <a:rPr lang="en-US" dirty="0"/>
              <a:t>   proof, how does a human learn from that? </a:t>
            </a:r>
            <a:r>
              <a:rPr lang="en-US" altLang="zh-CN" dirty="0"/>
              <a:t>Even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</a:t>
            </a:r>
            <a:r>
              <a:rPr lang="en-US" dirty="0"/>
              <a:t>he proof is verified. The understanding lags decades behind.                                                               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  This is the problem we're working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91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formalized math theorem proving, we identify two core problems. First, verified does not equal understanding. Current systems optimize for one thing — does the   </a:t>
            </a:r>
          </a:p>
          <a:p>
            <a:r>
              <a:rPr lang="en-US" dirty="0"/>
              <a:t>  proof compile? Everything else is discarded. The exploration, the failed attempts, the connections to other problems — all thrown away.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Second, mechanization does not equal reasoning. When a proof fails, it might be because you used the wrong API name, or it might be because your entire strategy is   </a:t>
            </a:r>
          </a:p>
          <a:p>
            <a:r>
              <a:rPr lang="en-US" dirty="0"/>
              <a:t>  wrong. These are completely different problems, but current systems treat them the same.                                                                              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  We want AI-assisted proofs that enhance human understanding, not just accumulate truths. Our objective is to design a system that produces traces that are not only   </a:t>
            </a:r>
          </a:p>
          <a:p>
            <a:r>
              <a:rPr lang="en-US" dirty="0"/>
              <a:t>  human-readable, but human-learnable.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08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solution is a two-system architecture. On the proving side, we have a prover agent that follows a plan-implement-replan loop. In the planning phase, it explores  </a:t>
            </a:r>
          </a:p>
          <a:p>
            <a:r>
              <a:rPr lang="en-US" dirty="0"/>
              <a:t>  the problem and produces a skeleton with "sorry" — claimed subgoals that compile but aren't proved yet. This validates the proof structure before we invest in the    </a:t>
            </a:r>
          </a:p>
          <a:p>
            <a:r>
              <a:rPr lang="en-US" dirty="0"/>
              <a:t>  details. In the implementation phase, it fills in each subgoal. A mechanization agent handles simple errors like wrong API names, and only escalates hard errors back </a:t>
            </a:r>
          </a:p>
          <a:p>
            <a:r>
              <a:rPr lang="en-US" dirty="0"/>
              <a:t>  to the strategy agent. If a subgoal gets stuck, we replan — revise the decomposition and try again.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The prover generates traces. These traces flow into the digest agent, which performs four functions: reinterpretation, scope expansion, progressive construction, and</a:t>
            </a:r>
          </a:p>
          <a:p>
            <a:r>
              <a:rPr lang="en-US" dirty="0"/>
              <a:t>  strategy templates. The extracted lessons then feed back to improve future proving sessions.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32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would a human digest a problem? Let's take a concrete example. Given n complex numbers whose absolute values sum to one, prove there exists a subset whose sum has</a:t>
            </a:r>
          </a:p>
          <a:p>
            <a:r>
              <a:rPr lang="en-US" dirty="0"/>
              <a:t>   norm at least one-sixth.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A human doesn't just prove it — they learn from it. Our digest agent mirrors this process. First, reinterpretation: complex numbers are really just 2D vectors. That  </a:t>
            </a:r>
          </a:p>
          <a:p>
            <a:r>
              <a:rPr lang="en-US" dirty="0"/>
              <a:t>  changes what tools are relevant. Second, scope expansion: can we beat one-sixth? Third, progressive construction: what if we start with just 2 vectors instead of n?  </a:t>
            </a:r>
          </a:p>
          <a:p>
            <a:r>
              <a:rPr lang="en-US" dirty="0"/>
              <a:t>  That reveals the problem is about selection, not summation. Fourth, strategy templates: this is a pigeonhole argument — project onto a direction. And fifth, failure</a:t>
            </a:r>
          </a:p>
          <a:p>
            <a:r>
              <a:rPr lang="en-US" dirty="0"/>
              <a:t>  lessons: we tried X, it didn't work, and here's why.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48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let's talk about evaluation. We obtained a proprietary Obsidian vault — 455 math notes with </a:t>
            </a:r>
            <a:r>
              <a:rPr lang="en-US" altLang="zh-CN" dirty="0"/>
              <a:t>1600</a:t>
            </a:r>
            <a:r>
              <a:rPr lang="en-US" dirty="0"/>
              <a:t> bidirectional links between them. This is the graph view. Each   </a:t>
            </a:r>
          </a:p>
          <a:p>
            <a:r>
              <a:rPr lang="en-US" dirty="0"/>
              <a:t>  node is a note, each edge is a connection that</a:t>
            </a:r>
            <a:r>
              <a:rPr lang="zh-CN" altLang="en-US" dirty="0"/>
              <a:t> </a:t>
            </a:r>
            <a:r>
              <a:rPr lang="en-US" dirty="0"/>
              <a:t>the author made.               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What makes this dataset special? Inside each note, it's not just a solution — it contains the author's reasoning, and difficulty progression from the original problem</a:t>
            </a:r>
          </a:p>
          <a:p>
            <a:r>
              <a:rPr lang="en-US" dirty="0"/>
              <a:t>   to stronger versions and generalizations. Between notes, the links form an explicit relational structure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dirty="0"/>
              <a:t>a few     </a:t>
            </a:r>
          </a:p>
          <a:p>
            <a:r>
              <a:rPr lang="en-US" dirty="0"/>
              <a:t>  general strategies connect to dozens of problems, while most nodes are individual problems.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altLang="zh-CN" dirty="0"/>
              <a:t>(</a:t>
            </a:r>
            <a:r>
              <a:rPr lang="en-US" dirty="0"/>
              <a:t>Those hub nodes — the high-level strategies — are exactly what our digest </a:t>
            </a:r>
          </a:p>
          <a:p>
            <a:r>
              <a:rPr lang="en-US" dirty="0"/>
              <a:t>  agent should be recovering. 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68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can't use the raw data directly — we need a curation pipeline.</a:t>
            </a:r>
            <a:r>
              <a:rPr lang="zh-CN" altLang="en-US" dirty="0"/>
              <a:t> </a:t>
            </a:r>
            <a:r>
              <a:rPr lang="en-US" altLang="zh-CN" dirty="0"/>
              <a:t>several</a:t>
            </a:r>
            <a:r>
              <a:rPr lang="zh-CN" altLang="en-US" dirty="0"/>
              <a:t> </a:t>
            </a:r>
            <a:r>
              <a:rPr lang="en-US" altLang="zh-CN" dirty="0"/>
              <a:t>reasons.</a:t>
            </a:r>
            <a:r>
              <a:rPr lang="en-US" dirty="0"/>
              <a:t> One note doesn't equal one problem. A single note might contain the original question, a</a:t>
            </a:r>
          </a:p>
          <a:p>
            <a:r>
              <a:rPr lang="en-US" dirty="0"/>
              <a:t>  strengthened version, and a generalization. Also, hub nodes are strategy descriptions with no theorem to formalize. And the   </a:t>
            </a:r>
          </a:p>
          <a:p>
            <a:r>
              <a:rPr lang="en-US" dirty="0"/>
              <a:t>  edges are at the note level </a:t>
            </a:r>
            <a:r>
              <a:rPr lang="zh-CN" altLang="en-US" dirty="0"/>
              <a:t> </a:t>
            </a:r>
            <a:r>
              <a:rPr lang="en-US" altLang="zh-CN" dirty="0"/>
              <a:t>instead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r>
              <a:rPr lang="en-US" dirty="0"/>
              <a:t>.         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Our pipeline has four steps: </a:t>
            </a:r>
          </a:p>
          <a:p>
            <a:r>
              <a:rPr lang="en-US" dirty="0"/>
              <a:t>extract individual problems from each note, </a:t>
            </a:r>
          </a:p>
          <a:p>
            <a:r>
              <a:rPr lang="en-US" dirty="0"/>
              <a:t>rebuild connections at the problem level,</a:t>
            </a:r>
          </a:p>
          <a:p>
            <a:r>
              <a:rPr lang="en-US" dirty="0"/>
              <a:t> formalize each problem as  Lean 4 </a:t>
            </a:r>
            <a:r>
              <a:rPr lang="en-US" altLang="zh-CN" dirty="0"/>
              <a:t>code</a:t>
            </a:r>
            <a:r>
              <a:rPr lang="en-US" dirty="0"/>
              <a:t>, </a:t>
            </a:r>
          </a:p>
          <a:p>
            <a:r>
              <a:rPr lang="en-US" dirty="0"/>
              <a:t>then classify nodes into problem nodes and technique nodes.</a:t>
            </a:r>
          </a:p>
          <a:p>
            <a:r>
              <a:rPr lang="en-US" dirty="0"/>
              <a:t> The technique hubs — 34 of them, representing just 7% of all nodes —    </a:t>
            </a:r>
          </a:p>
          <a:p>
            <a:r>
              <a:rPr lang="en-US" dirty="0"/>
              <a:t>  become our ground truth labels for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06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For the prover, we compare our structured workflow against free agents — same model, same problem set, same Lean checker. </a:t>
            </a:r>
          </a:p>
          <a:p>
            <a:r>
              <a:rPr lang="en-US" dirty="0"/>
              <a:t>Baselines include Claude Code, </a:t>
            </a:r>
            <a:r>
              <a:rPr lang="en-US" dirty="0" err="1"/>
              <a:t>OpenCode</a:t>
            </a:r>
            <a:r>
              <a:rPr lang="en-US" dirty="0"/>
              <a:t>, and</a:t>
            </a:r>
          </a:p>
          <a:p>
            <a:r>
              <a:rPr lang="en-US" dirty="0"/>
              <a:t>   dedicated provers like </a:t>
            </a:r>
            <a:r>
              <a:rPr lang="en-US" dirty="0" err="1"/>
              <a:t>ReProver</a:t>
            </a:r>
            <a:r>
              <a:rPr lang="en-US" dirty="0"/>
              <a:t> and Lean Copilot.</a:t>
            </a:r>
          </a:p>
          <a:p>
            <a:endParaRPr lang="en-US" dirty="0"/>
          </a:p>
          <a:p>
            <a:r>
              <a:rPr lang="en-US" dirty="0"/>
              <a:t>We measure three things: pass rate, iteration count, and error type.             </a:t>
            </a:r>
          </a:p>
          <a:p>
            <a:r>
              <a:rPr lang="en-US" dirty="0"/>
              <a:t>                </a:t>
            </a:r>
          </a:p>
          <a:p>
            <a:r>
              <a:rPr lang="en-US" dirty="0"/>
              <a:t>We have a preliminary result on one problem. Using Opus 4.6 with our structured workflow on the complex subset sum problem: 36 checker calls, 100% mechanization      </a:t>
            </a:r>
          </a:p>
          <a:p>
            <a:r>
              <a:rPr lang="en-US" dirty="0"/>
              <a:t>  errors, zero strategy revisions. </a:t>
            </a:r>
          </a:p>
          <a:p>
            <a:endParaRPr lang="en-US" dirty="0"/>
          </a:p>
          <a:p>
            <a:r>
              <a:rPr lang="en-US" dirty="0"/>
              <a:t>For the free agent on the same model: th</a:t>
            </a:r>
            <a:r>
              <a:rPr lang="en-US" altLang="zh-CN" dirty="0"/>
              <a:t>e</a:t>
            </a:r>
            <a:r>
              <a:rPr lang="zh-CN" altLang="en-US" dirty="0"/>
              <a:t> </a:t>
            </a:r>
            <a:r>
              <a:rPr lang="en-US" altLang="zh-CN" dirty="0"/>
              <a:t>attempt</a:t>
            </a:r>
            <a:r>
              <a:rPr lang="zh-CN" altLang="en-US" dirty="0"/>
              <a:t> </a:t>
            </a:r>
            <a:r>
              <a:rPr lang="en-US" altLang="zh-CN" dirty="0"/>
              <a:t>failed</a:t>
            </a:r>
            <a:r>
              <a:rPr lang="zh-CN" altLang="en-US" dirty="0"/>
              <a:t> </a:t>
            </a:r>
            <a:r>
              <a:rPr lang="en-US" dirty="0"/>
              <a:t>after 25 minutes</a:t>
            </a:r>
            <a:r>
              <a:rPr lang="zh-CN" altLang="en-US" dirty="0"/>
              <a:t> </a:t>
            </a:r>
            <a:r>
              <a:rPr lang="en-US" altLang="zh-CN" dirty="0"/>
              <a:t>consuming</a:t>
            </a:r>
            <a:r>
              <a:rPr lang="zh-CN" altLang="en-US" dirty="0"/>
              <a:t> </a:t>
            </a:r>
            <a:r>
              <a:rPr lang="en-US" altLang="zh-CN" dirty="0"/>
              <a:t>1M</a:t>
            </a:r>
            <a:r>
              <a:rPr lang="zh-CN" altLang="en-US" dirty="0"/>
              <a:t> </a:t>
            </a:r>
            <a:r>
              <a:rPr lang="en-US" altLang="zh-CN" dirty="0"/>
              <a:t>tokens.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showcases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importance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78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digest agent, we evaluate knowledge extraction quality. The baseline is simple prompt-based summarization — just ask an LLM to summarize the proof. Our</a:t>
            </a:r>
          </a:p>
          <a:p>
            <a:r>
              <a:rPr lang="en-US" dirty="0"/>
              <a:t>  solution uses the digest agent with its four core functions.             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altLang="zh-CN" dirty="0"/>
              <a:t>(</a:t>
            </a:r>
            <a:r>
              <a:rPr lang="en-US" dirty="0"/>
              <a:t>The setup: give the agent a problem and its proof trace, let it extract lessons, then compare against our ground </a:t>
            </a:r>
            <a:r>
              <a:rPr lang="en-US" dirty="0" err="1"/>
              <a:t>truth</a:t>
            </a:r>
            <a:r>
              <a:rPr lang="en-US" altLang="zh-CN" dirty="0" err="1"/>
              <a:t>,which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en-US" dirty="0"/>
              <a:t> the relational graph from the Obsidian vault.</a:t>
            </a:r>
            <a:r>
              <a:rPr lang="en-US" altLang="zh-CN" dirty="0"/>
              <a:t>)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</a:t>
            </a:r>
            <a:r>
              <a:rPr lang="en-US" altLang="zh-CN" dirty="0"/>
              <a:t>(</a:t>
            </a:r>
            <a:r>
              <a:rPr lang="en-US" dirty="0"/>
              <a:t>We use semantic matching between the digest output and the ground truth edges, since the digest won't use the exact same wording as the notes.</a:t>
            </a:r>
            <a:r>
              <a:rPr lang="en-US" altLang="zh-CN" dirty="0"/>
              <a:t>)</a:t>
            </a:r>
            <a:r>
              <a:rPr lang="en-US" dirty="0"/>
              <a:t>                       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  We measure precision and recall against ground truth hub connections. On our preliminary test — the complex subset sum problem — there are two ground truth hubs: the </a:t>
            </a:r>
          </a:p>
          <a:p>
            <a:r>
              <a:rPr lang="en-US" dirty="0"/>
              <a:t>  probabilistic method and the pigeonhole principle. The baseline found one — 50% recall.</a:t>
            </a:r>
          </a:p>
          <a:p>
            <a:endParaRPr lang="en-US" dirty="0"/>
          </a:p>
          <a:p>
            <a:r>
              <a:rPr lang="en-US" dirty="0"/>
              <a:t> The digest agent found both — 100% recall.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gives</a:t>
            </a:r>
            <a:r>
              <a:rPr lang="zh-CN" altLang="en-US" dirty="0"/>
              <a:t> </a:t>
            </a:r>
            <a:r>
              <a:rPr lang="en-US" altLang="zh-CN" dirty="0"/>
              <a:t>us</a:t>
            </a:r>
            <a:r>
              <a:rPr lang="zh-CN" altLang="en-US" dirty="0"/>
              <a:t> </a:t>
            </a:r>
            <a:r>
              <a:rPr lang="en-US" altLang="zh-CN" dirty="0"/>
              <a:t>confidence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en-US" dirty="0"/>
              <a:t> the digest agent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identify</a:t>
            </a:r>
            <a:r>
              <a:rPr lang="en-US" dirty="0"/>
              <a:t> the deeper underlying strategy.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60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provide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dirty="0"/>
              <a:t>case study on the complex subset sum problem. On the right you can see the actual proof skeleton</a:t>
            </a:r>
            <a:r>
              <a:rPr lang="zh-CN" altLang="en-US" dirty="0"/>
              <a:t> </a:t>
            </a:r>
            <a:r>
              <a:rPr lang="en-US" altLang="zh-CN" dirty="0"/>
              <a:t>generated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r>
              <a:rPr lang="en-US" dirty="0"/>
              <a:t>. The problem statement is at the top. Below it, Phase 1 —</a:t>
            </a:r>
          </a:p>
          <a:p>
            <a:r>
              <a:rPr lang="en-US" dirty="0"/>
              <a:t>  the skeleton with three </a:t>
            </a:r>
            <a:r>
              <a:rPr lang="en-US" dirty="0" err="1"/>
              <a:t>sorry'd</a:t>
            </a:r>
            <a:r>
              <a:rPr lang="en-US" dirty="0"/>
              <a:t> subgoals. One is a pure computation. One is a standard analysis result. One is    </a:t>
            </a:r>
          </a:p>
          <a:p>
            <a:r>
              <a:rPr lang="en-US" dirty="0"/>
              <a:t>  integration plumbing. At the bottom, the main theorem — fully proved from these subgoals, no sorry.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Three takeaways. First, the subgoal strategy gives better readability than the full 300-line proof, and the </a:t>
            </a:r>
            <a:r>
              <a:rPr lang="en-US" dirty="0" err="1"/>
              <a:t>sorry'd</a:t>
            </a:r>
            <a:r>
              <a:rPr lang="en-US" dirty="0"/>
              <a:t> lemmas could be checked using tools like          </a:t>
            </a:r>
          </a:p>
          <a:p>
            <a:r>
              <a:rPr lang="en-US" dirty="0"/>
              <a:t>  Mathematica. </a:t>
            </a:r>
          </a:p>
          <a:p>
            <a:r>
              <a:rPr lang="en-US" dirty="0"/>
              <a:t>Second, mechanization dominated — 36 iterations of formalization labor, all API names and syntax, zero mathematical errors. </a:t>
            </a:r>
          </a:p>
          <a:p>
            <a:r>
              <a:rPr lang="en-US" dirty="0"/>
              <a:t>Third,</a:t>
            </a:r>
            <a:r>
              <a:rPr lang="en-US" altLang="zh-CN" dirty="0"/>
              <a:t>(we</a:t>
            </a:r>
            <a:r>
              <a:rPr lang="zh-CN" altLang="en-US" dirty="0"/>
              <a:t> </a:t>
            </a:r>
            <a:r>
              <a:rPr lang="en-US" altLang="zh-CN" dirty="0"/>
              <a:t>identified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leakage</a:t>
            </a:r>
            <a:r>
              <a:rPr lang="zh-CN" altLang="en-US" dirty="0"/>
              <a:t> </a:t>
            </a:r>
            <a:r>
              <a:rPr lang="en-US" altLang="zh-CN" dirty="0"/>
              <a:t>issue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address)</a:t>
            </a:r>
            <a:endParaRPr lang="en-US" dirty="0"/>
          </a:p>
          <a:p>
            <a:endParaRPr lang="en-US" dirty="0"/>
          </a:p>
          <a:p>
            <a:r>
              <a:rPr lang="en-US" dirty="0"/>
              <a:t> data leakage masks    </a:t>
            </a:r>
          </a:p>
          <a:p>
            <a:r>
              <a:rPr lang="en-US" dirty="0"/>
              <a:t>  true difficulty.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Opus 4.6 already knew the answer upfront. Co-curation of training versus evaluation data is an important concern.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17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rest of the semester. First, full-scale evaluation — run the prover and digest agent on many problems from the curated dataset, not just one. Second,         </a:t>
            </a:r>
          </a:p>
          <a:p>
            <a:r>
              <a:rPr lang="en-US" dirty="0"/>
              <a:t>  Mathematica and </a:t>
            </a:r>
            <a:r>
              <a:rPr lang="en-US" dirty="0" err="1"/>
              <a:t>sympy</a:t>
            </a:r>
            <a:r>
              <a:rPr lang="en-US" dirty="0"/>
              <a:t> integration — this reduces the gap between "mathematically correct" and "Lean-verified." Some </a:t>
            </a:r>
            <a:r>
              <a:rPr lang="en-US" dirty="0" err="1"/>
              <a:t>sorry'd</a:t>
            </a:r>
            <a:r>
              <a:rPr lang="en-US" dirty="0"/>
              <a:t> lemmas are trivial computations that a    </a:t>
            </a:r>
          </a:p>
          <a:p>
            <a:r>
              <a:rPr lang="en-US" dirty="0"/>
              <a:t>  computer algebra system solves instantly. Third, complete the formalized dataset curation — extract problems from the vault, formalize in Lean, rebuild edges. And    </a:t>
            </a:r>
          </a:p>
          <a:p>
            <a:r>
              <a:rPr lang="en-US" dirty="0"/>
              <a:t>  fourth, improve the digest agent based on what we learn from the evaluation. The machinery is built. What remains is running it at scale and measuring.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D932D-E125-684C-9FDB-8A3DBA2B597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33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1763F-D655-6237-D2B7-98559CC85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b"/>
          <a:lstStyle>
            <a:lvl1pPr algn="ctr">
              <a:defRPr sz="6000" b="1" i="1">
                <a:latin typeface="Candara" panose="020E05020303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845BE-38DB-2671-902A-CB3DD9843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1999" cy="1655762"/>
          </a:xfrm>
        </p:spPr>
        <p:txBody>
          <a:bodyPr/>
          <a:lstStyle>
            <a:lvl1pPr marL="0" indent="0" algn="ctr">
              <a:buNone/>
              <a:defRPr sz="2400">
                <a:latin typeface="Candara" panose="020E05020303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 descr="A picture containing monitor, sitting, computer&#10;&#10;Description automatically generated">
            <a:extLst>
              <a:ext uri="{FF2B5EF4-FFF2-40B4-BE49-F238E27FC236}">
                <a16:creationId xmlns:a16="http://schemas.microsoft.com/office/drawing/2014/main" id="{F97ED4DA-C358-D5CF-6F6B-283255DCDC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87039" y="5433805"/>
            <a:ext cx="417921" cy="60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0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EBA4F-59AA-1EF4-BD18-251D9DC6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FDC8B-AC65-9F73-EBE0-080541BBA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786C6-0711-C42A-D3FB-870BDA2F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B07B8-40B5-95DE-A85F-E3E9113F9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EC164-3EAF-0C72-76EC-837EC8E13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5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4102E-62F9-4BBA-D604-3546221EE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8E2ED-78F5-48D3-7CDF-EE5AC2A7E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90033-A4E2-20EA-7767-2014DC8F7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9627D-6B33-C4CC-FDB1-8DA5189D4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F26A5-E6A5-B22C-9270-C00057DAE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8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D0BE-C098-1B31-1608-8ACDE08E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2B10C-EFCA-DF45-DAFA-FD849C75C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FA301-23C2-AD31-B00E-5AC264D83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4452C-F1F3-C1ED-BBFE-D6010204C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9E2F2-4333-BFF9-7B3E-362CE2AE8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D8240-34BC-307D-8656-EC228FCE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01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08E4C-326C-C815-940B-677571971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605C0-588A-854E-94F8-C65D765A2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86026-B271-EAF2-B44B-027EE08E4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78B072-39BA-0E03-AE32-78F1F76EED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D96DC-6503-1286-E709-F48B4DEDD2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E28DBB-3A9E-F145-4B5A-0584AB069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1699C7-39B0-E9B7-8EC7-2CDD74F5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65FF5B-CA7D-E5BD-F78C-4C77B17BB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98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2E67-05C6-32AC-53B2-488CE4557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C2D01-3863-15FD-5253-CAF293D88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7A480-F171-984F-61E0-825B9EA5E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B7AE4-32DD-0704-E7B2-496D64B5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3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44D9D-ED79-D8FE-A721-4EF3D705F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9608A-7C85-1D88-24D7-2D38E64CF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AE663-FC6E-303B-EEEB-1F972AF8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4136D-8FFE-CC0D-58AA-7ACC64C9B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12AF0-F364-0A0A-C138-CAC406E7B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FDD1D-57A8-F7F9-0CB5-AB1A26118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E9A6B-177F-A086-B658-C7A23871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568D9-AC21-86EA-FD5D-62D7AD65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2B4D9-5FF9-40B1-DBBD-05F10C83B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23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68C24-DCE5-80BB-8CF9-40B6C0D2B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CF957-8A57-9FE2-423D-BB85E3727D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EA6C2-7605-E577-69C3-1173B787D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98EAD-158B-7FB8-3AD6-8963D77F5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0616A-12A2-A59F-27F3-6AF98E7B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A59E3-06CE-A25D-D912-16F39998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48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0AB1-B18F-F3EF-E481-4EDB83162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8536D-1C8D-CCE4-9584-BF48087A6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7EBF4-5D0D-6EAB-9F7E-75C3DD9E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A0055-C40A-1F18-0B74-715D3D53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0282C-F329-25A5-90EC-04870F14E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8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B1C7D5-339D-EB87-8269-07DA52B1B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65B01-AA92-6F86-2346-EEDFD4C5B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1A268-BB77-DA79-3F1F-AC368BB5E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E7B1-5B61-5B4E-BA95-21231C65A28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8EB5C-5839-20EC-728F-5001322BC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2082C-6F10-D077-0CDE-06C6CC01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3F19-9E61-3448-BF37-4930FF14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9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9E0A0-60A7-D742-F5E6-127806CD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43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C7580-C4A1-68D6-77F4-C08676837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67208"/>
            <a:ext cx="6096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6CCA7-6BB6-3C61-F57B-E4EFE19C1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6830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A5E7B1-5B61-5B4E-BA95-21231C65A28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0A16A-2BC5-B102-D3BB-1FEFF23E1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683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5F9A4-03CD-8069-ADD5-76A1B7FA4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683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93F19-9E61-3448-BF37-4930FF143C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311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16EB-5FB4-CAB0-BBC9-B631A29C7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Structured AI</a:t>
            </a:r>
            <a:r>
              <a:rPr lang="zh-CN" altLang="en-US" dirty="0"/>
              <a:t> </a:t>
            </a:r>
            <a:r>
              <a:rPr lang="en-US" dirty="0"/>
              <a:t>Theorem Proving with Human-Learnable Knowledge Extraction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0D75C-DA0D-2628-02B9-C626F64D2B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Ashley,</a:t>
            </a:r>
            <a:r>
              <a:rPr lang="zh-CN" altLang="en-US" dirty="0"/>
              <a:t> </a:t>
            </a:r>
            <a:r>
              <a:rPr lang="en-US" altLang="zh-CN" dirty="0"/>
              <a:t>Shaurya,</a:t>
            </a:r>
            <a:r>
              <a:rPr lang="zh-CN" altLang="en-US" dirty="0"/>
              <a:t> </a:t>
            </a:r>
            <a:r>
              <a:rPr lang="en-US" altLang="zh-CN" dirty="0"/>
              <a:t>Yuqi,</a:t>
            </a:r>
            <a:r>
              <a:rPr lang="zh-CN" altLang="en-US" dirty="0"/>
              <a:t> </a:t>
            </a:r>
            <a:r>
              <a:rPr lang="en-US" altLang="zh-CN" dirty="0"/>
              <a:t>Zihan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074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57122-CF90-83B2-6A88-0C1A4575B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307075"/>
            <a:ext cx="4447190" cy="52089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Age</a:t>
            </a:r>
            <a:r>
              <a:rPr lang="zh-CN" altLang="en-US" sz="3200" dirty="0"/>
              <a:t> </a:t>
            </a:r>
            <a:r>
              <a:rPr lang="en-US" altLang="zh-CN" sz="3200" dirty="0"/>
              <a:t>of</a:t>
            </a:r>
            <a:r>
              <a:rPr lang="zh-CN" altLang="en-US" sz="3200" dirty="0"/>
              <a:t> </a:t>
            </a:r>
            <a:r>
              <a:rPr lang="en-US" altLang="zh-CN" sz="3200" dirty="0"/>
              <a:t>Human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4FBE2E-9A8D-C2EA-B4B6-9E2A8DE5B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44" y="1452173"/>
            <a:ext cx="4447190" cy="165181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84C9A9-4E06-E6F9-5EAA-B9BE68EE4DA3}"/>
              </a:ext>
            </a:extLst>
          </p:cNvPr>
          <p:cNvSpPr txBox="1">
            <a:spLocks/>
          </p:cNvSpPr>
          <p:nvPr/>
        </p:nvSpPr>
        <p:spPr>
          <a:xfrm>
            <a:off x="0" y="931274"/>
            <a:ext cx="4447190" cy="520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enormous</a:t>
            </a:r>
            <a:r>
              <a:rPr lang="zh-CN" altLang="en-US" dirty="0"/>
              <a:t> </a:t>
            </a:r>
            <a:r>
              <a:rPr lang="en-US" altLang="zh-CN" dirty="0"/>
              <a:t>theorem: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7873C4-70B3-5F6F-A6C7-7F55646F71B4}"/>
              </a:ext>
            </a:extLst>
          </p:cNvPr>
          <p:cNvSpPr txBox="1">
            <a:spLocks/>
          </p:cNvSpPr>
          <p:nvPr/>
        </p:nvSpPr>
        <p:spPr>
          <a:xfrm>
            <a:off x="-1" y="3194749"/>
            <a:ext cx="4995081" cy="3356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~</a:t>
            </a:r>
            <a:r>
              <a:rPr lang="zh-CN" altLang="en-US" sz="2000" dirty="0"/>
              <a:t> </a:t>
            </a:r>
            <a:r>
              <a:rPr lang="en-US" altLang="zh-CN" sz="2000" dirty="0"/>
              <a:t>50</a:t>
            </a:r>
            <a:r>
              <a:rPr lang="zh-CN" altLang="en-US" sz="2000" dirty="0"/>
              <a:t> </a:t>
            </a:r>
            <a:r>
              <a:rPr lang="en-US" altLang="zh-CN" sz="2000" dirty="0"/>
              <a:t>years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work</a:t>
            </a:r>
            <a:r>
              <a:rPr lang="zh-CN" altLang="en-US" sz="2000" dirty="0"/>
              <a:t> </a:t>
            </a:r>
            <a:r>
              <a:rPr lang="en-US" altLang="zh-CN" sz="2000" dirty="0"/>
              <a:t>(1955-2004)</a:t>
            </a:r>
          </a:p>
          <a:p>
            <a:r>
              <a:rPr lang="en-US" altLang="zh-CN" sz="2000" dirty="0"/>
              <a:t>15,000</a:t>
            </a:r>
            <a:r>
              <a:rPr lang="zh-CN" altLang="en-US" sz="2000" dirty="0"/>
              <a:t> </a:t>
            </a:r>
            <a:r>
              <a:rPr lang="en-US" altLang="zh-CN" sz="2000" dirty="0"/>
              <a:t>pages</a:t>
            </a:r>
            <a:r>
              <a:rPr lang="zh-CN" altLang="en-US" sz="2000" dirty="0"/>
              <a:t> </a:t>
            </a:r>
            <a:r>
              <a:rPr lang="en-US" altLang="zh-CN" sz="2000" dirty="0"/>
              <a:t>or</a:t>
            </a:r>
            <a:r>
              <a:rPr lang="zh-CN" altLang="en-US" sz="2000" dirty="0"/>
              <a:t> </a:t>
            </a:r>
            <a:r>
              <a:rPr lang="en-US" altLang="zh-CN" sz="2000" dirty="0"/>
              <a:t>proof</a:t>
            </a:r>
            <a:r>
              <a:rPr lang="zh-CN" altLang="en-US" sz="2000" dirty="0"/>
              <a:t> </a:t>
            </a:r>
            <a:r>
              <a:rPr lang="en-US" altLang="zh-CN" sz="2000" dirty="0"/>
              <a:t>across</a:t>
            </a:r>
            <a:r>
              <a:rPr lang="zh-CN" altLang="en-US" sz="2000" dirty="0"/>
              <a:t> </a:t>
            </a:r>
            <a:r>
              <a:rPr lang="en-US" altLang="zh-CN" sz="2000" dirty="0"/>
              <a:t>~500</a:t>
            </a:r>
            <a:r>
              <a:rPr lang="zh-CN" altLang="en-US" sz="2000" dirty="0"/>
              <a:t> </a:t>
            </a:r>
            <a:r>
              <a:rPr lang="en-US" altLang="zh-CN" sz="2000" dirty="0"/>
              <a:t>papers</a:t>
            </a:r>
          </a:p>
          <a:p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GLS "Simplified Proof" Project(1981</a:t>
            </a:r>
            <a:r>
              <a:rPr lang="zh-CN" altLang="en-US" sz="2000" dirty="0"/>
              <a:t> </a:t>
            </a:r>
            <a:r>
              <a:rPr lang="en-US" altLang="zh-CN" sz="2000" dirty="0"/>
              <a:t>-)</a:t>
            </a:r>
          </a:p>
          <a:p>
            <a:r>
              <a:rPr lang="en-US" altLang="zh-CN" sz="2000" dirty="0"/>
              <a:t>planned:</a:t>
            </a:r>
            <a:r>
              <a:rPr lang="zh-CN" altLang="en-US" sz="2000" dirty="0"/>
              <a:t> </a:t>
            </a:r>
            <a:r>
              <a:rPr lang="en-US" altLang="zh-CN" sz="2000" dirty="0"/>
              <a:t>12</a:t>
            </a:r>
            <a:r>
              <a:rPr lang="zh-CN" altLang="en-US" sz="2000" dirty="0"/>
              <a:t> </a:t>
            </a:r>
            <a:r>
              <a:rPr lang="en-US" altLang="zh-CN" sz="2000" dirty="0"/>
              <a:t>volumes</a:t>
            </a:r>
          </a:p>
          <a:p>
            <a:r>
              <a:rPr lang="en-US" altLang="zh-CN" sz="2000" dirty="0"/>
              <a:t>published</a:t>
            </a:r>
            <a:r>
              <a:rPr lang="zh-CN" altLang="en-US" sz="2000" dirty="0"/>
              <a:t> </a:t>
            </a:r>
            <a:r>
              <a:rPr lang="en-US" altLang="zh-CN" sz="2000" dirty="0"/>
              <a:t>so</a:t>
            </a:r>
            <a:r>
              <a:rPr lang="zh-CN" altLang="en-US" sz="2000" dirty="0"/>
              <a:t> </a:t>
            </a:r>
            <a:r>
              <a:rPr lang="en-US" altLang="zh-CN" sz="2000" dirty="0"/>
              <a:t>far:</a:t>
            </a:r>
            <a:r>
              <a:rPr lang="zh-CN" altLang="en-US" sz="2000" dirty="0"/>
              <a:t> </a:t>
            </a:r>
            <a:r>
              <a:rPr lang="en-US" altLang="zh-CN" sz="2000" dirty="0"/>
              <a:t>9</a:t>
            </a:r>
            <a:r>
              <a:rPr lang="zh-CN" altLang="en-US" sz="2000" dirty="0"/>
              <a:t> </a:t>
            </a:r>
            <a:r>
              <a:rPr lang="en-US" altLang="zh-CN" sz="2000" dirty="0"/>
              <a:t>volumes</a:t>
            </a:r>
          </a:p>
          <a:p>
            <a:r>
              <a:rPr lang="en-US" altLang="zh-CN" sz="2000" dirty="0"/>
              <a:t>ends</a:t>
            </a:r>
            <a:r>
              <a:rPr lang="zh-CN" altLang="en-US" sz="2000" dirty="0"/>
              <a:t> </a:t>
            </a:r>
            <a:r>
              <a:rPr lang="en-US" altLang="zh-CN" sz="2000" dirty="0"/>
              <a:t>up</a:t>
            </a:r>
            <a:r>
              <a:rPr lang="zh-CN" altLang="en-US" sz="2000" dirty="0"/>
              <a:t> </a:t>
            </a:r>
            <a:r>
              <a:rPr lang="en-US" altLang="zh-CN" sz="2000" dirty="0"/>
              <a:t>longer</a:t>
            </a:r>
            <a:r>
              <a:rPr lang="zh-CN" altLang="en-US" sz="2000" dirty="0"/>
              <a:t> </a:t>
            </a:r>
            <a:r>
              <a:rPr lang="en-US" altLang="zh-CN" sz="2000" dirty="0"/>
              <a:t>than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original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7509A3-DD29-761C-AB2D-1924076F0147}"/>
              </a:ext>
            </a:extLst>
          </p:cNvPr>
          <p:cNvSpPr txBox="1">
            <a:spLocks/>
          </p:cNvSpPr>
          <p:nvPr/>
        </p:nvSpPr>
        <p:spPr>
          <a:xfrm>
            <a:off x="7301552" y="307075"/>
            <a:ext cx="3548418" cy="5208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Age</a:t>
            </a:r>
            <a:r>
              <a:rPr lang="zh-CN" altLang="en-US" sz="3200" dirty="0"/>
              <a:t> </a:t>
            </a:r>
            <a:r>
              <a:rPr lang="en-US" altLang="zh-CN" sz="3200" dirty="0"/>
              <a:t>of</a:t>
            </a:r>
            <a:r>
              <a:rPr lang="zh-CN" altLang="en-US" sz="3200" dirty="0"/>
              <a:t> </a:t>
            </a:r>
            <a:r>
              <a:rPr lang="en-US" altLang="zh-CN" sz="3200" dirty="0"/>
              <a:t>AI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6B69B10-17E2-6604-A7C7-CA9FB96433E8}"/>
              </a:ext>
            </a:extLst>
          </p:cNvPr>
          <p:cNvSpPr txBox="1">
            <a:spLocks/>
          </p:cNvSpPr>
          <p:nvPr/>
        </p:nvSpPr>
        <p:spPr>
          <a:xfrm>
            <a:off x="7470868" y="1452173"/>
            <a:ext cx="4474635" cy="210989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We</a:t>
            </a:r>
            <a:r>
              <a:rPr lang="zh-CN" altLang="en-US" sz="2400" dirty="0"/>
              <a:t> </a:t>
            </a:r>
            <a:r>
              <a:rPr lang="en-US" altLang="zh-CN" sz="2400" dirty="0"/>
              <a:t>use</a:t>
            </a:r>
            <a:r>
              <a:rPr lang="zh-CN" altLang="en-US" sz="2400" dirty="0"/>
              <a:t> </a:t>
            </a:r>
            <a:r>
              <a:rPr lang="en-US" altLang="zh-CN" sz="2400" dirty="0"/>
              <a:t>AI</a:t>
            </a:r>
            <a:r>
              <a:rPr lang="zh-CN" altLang="en-US" sz="2400" dirty="0"/>
              <a:t> </a:t>
            </a:r>
            <a:r>
              <a:rPr lang="en-US" altLang="zh-CN" sz="2400" dirty="0"/>
              <a:t>to:</a:t>
            </a:r>
          </a:p>
          <a:p>
            <a:r>
              <a:rPr lang="en-US" altLang="zh-CN" sz="2400" dirty="0"/>
              <a:t>Fix</a:t>
            </a:r>
            <a:r>
              <a:rPr lang="zh-CN" altLang="en-US" sz="2400" dirty="0"/>
              <a:t> </a:t>
            </a:r>
            <a:r>
              <a:rPr lang="en-US" altLang="zh-CN" sz="2400" dirty="0"/>
              <a:t>bugs</a:t>
            </a:r>
          </a:p>
          <a:p>
            <a:r>
              <a:rPr lang="en-US" altLang="zh-CN" sz="2400" dirty="0"/>
              <a:t>Implement</a:t>
            </a:r>
            <a:r>
              <a:rPr lang="zh-CN" altLang="en-US" sz="2400" dirty="0"/>
              <a:t> </a:t>
            </a:r>
            <a:r>
              <a:rPr lang="en-US" altLang="zh-CN" sz="2400" dirty="0"/>
              <a:t>features</a:t>
            </a:r>
          </a:p>
          <a:p>
            <a:r>
              <a:rPr lang="en-US" altLang="zh-CN" sz="2400" dirty="0"/>
              <a:t>Design</a:t>
            </a:r>
            <a:r>
              <a:rPr lang="zh-CN" altLang="en-US" sz="2400" dirty="0"/>
              <a:t> </a:t>
            </a:r>
            <a:r>
              <a:rPr lang="en-US" altLang="zh-CN" sz="2400" dirty="0"/>
              <a:t>systems</a:t>
            </a:r>
          </a:p>
          <a:p>
            <a:r>
              <a:rPr lang="en-US" altLang="zh-CN" sz="2400" dirty="0"/>
              <a:t>Prove</a:t>
            </a:r>
            <a:r>
              <a:rPr lang="zh-CN" altLang="en-US" sz="2400" dirty="0"/>
              <a:t> </a:t>
            </a:r>
            <a:r>
              <a:rPr lang="en-US" altLang="zh-CN" sz="2400" dirty="0"/>
              <a:t>theorems</a:t>
            </a:r>
          </a:p>
          <a:p>
            <a:pPr marL="0" indent="0">
              <a:buNone/>
            </a:pP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344AC35-B055-6F21-3C21-DB0D76380B90}"/>
              </a:ext>
            </a:extLst>
          </p:cNvPr>
          <p:cNvSpPr txBox="1">
            <a:spLocks/>
          </p:cNvSpPr>
          <p:nvPr/>
        </p:nvSpPr>
        <p:spPr>
          <a:xfrm>
            <a:off x="0" y="6120789"/>
            <a:ext cx="10399594" cy="520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The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proof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is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verified.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The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understanding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lags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decades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behind!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772C2F-30C8-2926-3063-02E69C1DE566}"/>
              </a:ext>
            </a:extLst>
          </p:cNvPr>
          <p:cNvSpPr txBox="1">
            <a:spLocks/>
          </p:cNvSpPr>
          <p:nvPr/>
        </p:nvSpPr>
        <p:spPr>
          <a:xfrm>
            <a:off x="7470868" y="4401403"/>
            <a:ext cx="4474635" cy="1344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How</a:t>
            </a:r>
            <a:r>
              <a:rPr lang="zh-CN" altLang="en-US" sz="2400" dirty="0"/>
              <a:t> </a:t>
            </a:r>
            <a:r>
              <a:rPr lang="en-US" altLang="zh-CN" sz="2400" dirty="0"/>
              <a:t>hard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it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study:</a:t>
            </a:r>
          </a:p>
          <a:p>
            <a:r>
              <a:rPr lang="en-US" altLang="zh-CN" sz="2400" dirty="0"/>
              <a:t>GPU</a:t>
            </a:r>
            <a:r>
              <a:rPr lang="zh-CN" altLang="en-US" sz="2400" dirty="0"/>
              <a:t> </a:t>
            </a:r>
            <a:r>
              <a:rPr lang="en-US" altLang="zh-CN" sz="2400" dirty="0"/>
              <a:t>kernels</a:t>
            </a:r>
            <a:r>
              <a:rPr lang="zh-CN" altLang="en-US" sz="2400" dirty="0"/>
              <a:t> </a:t>
            </a:r>
            <a:r>
              <a:rPr lang="en-US" altLang="zh-CN" sz="2400" dirty="0"/>
              <a:t>with</a:t>
            </a:r>
            <a:r>
              <a:rPr lang="zh-CN" altLang="en-US" sz="2400" dirty="0"/>
              <a:t> </a:t>
            </a:r>
            <a:r>
              <a:rPr lang="en-US" altLang="zh-CN" sz="2400" dirty="0"/>
              <a:t>~10k</a:t>
            </a:r>
            <a:r>
              <a:rPr lang="zh-CN" altLang="en-US" sz="2400" dirty="0"/>
              <a:t> </a:t>
            </a:r>
            <a:r>
              <a:rPr lang="en-US" altLang="zh-CN" sz="2400" dirty="0"/>
              <a:t>Loc?</a:t>
            </a:r>
          </a:p>
          <a:p>
            <a:r>
              <a:rPr lang="en-US" altLang="zh-CN" sz="2400" dirty="0"/>
              <a:t>Proof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theorem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1M+</a:t>
            </a:r>
            <a:r>
              <a:rPr lang="zh-CN" altLang="en-US" sz="2400" dirty="0"/>
              <a:t> </a:t>
            </a:r>
            <a:r>
              <a:rPr lang="en-US" altLang="zh-CN" sz="2400" dirty="0"/>
              <a:t>Loc?</a:t>
            </a:r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90095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63BA-A973-4386-8A0C-6337F9E2A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</a:t>
            </a:r>
            <a:r>
              <a:rPr lang="en-US" altLang="zh-CN" dirty="0"/>
              <a:t>blem</a:t>
            </a:r>
            <a:r>
              <a:rPr lang="zh-CN" altLang="en-US" dirty="0"/>
              <a:t> </a:t>
            </a:r>
            <a:r>
              <a:rPr lang="en-US" altLang="zh-CN" dirty="0"/>
              <a:t>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F064-E365-0C9B-87A5-22C601515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2192000" cy="33323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formalized</a:t>
            </a:r>
            <a:r>
              <a:rPr lang="zh-CN" altLang="en-US" dirty="0"/>
              <a:t> </a:t>
            </a:r>
            <a:r>
              <a:rPr lang="en-US" altLang="zh-CN" dirty="0"/>
              <a:t>math</a:t>
            </a:r>
            <a:r>
              <a:rPr lang="zh-CN" altLang="en-US" dirty="0"/>
              <a:t> </a:t>
            </a:r>
            <a:r>
              <a:rPr lang="en-US" altLang="zh-CN" dirty="0"/>
              <a:t>theorem</a:t>
            </a:r>
            <a:r>
              <a:rPr lang="zh-CN" altLang="en-US" dirty="0"/>
              <a:t> </a:t>
            </a:r>
            <a:r>
              <a:rPr lang="en-US" altLang="zh-CN" dirty="0"/>
              <a:t>proving:</a:t>
            </a:r>
            <a:endParaRPr lang="en-US" dirty="0"/>
          </a:p>
          <a:p>
            <a:r>
              <a:rPr lang="en-US" dirty="0"/>
              <a:t>Verified ≠ understanding </a:t>
            </a:r>
          </a:p>
          <a:p>
            <a:pPr lvl="1"/>
            <a:r>
              <a:rPr lang="en-US" dirty="0"/>
              <a:t>Current systems optimize for "does it compile?" and discard everything else</a:t>
            </a:r>
          </a:p>
          <a:p>
            <a:r>
              <a:rPr lang="en-US" dirty="0"/>
              <a:t>Mechanization ≠ reasoning</a:t>
            </a:r>
          </a:p>
          <a:p>
            <a:pPr lvl="1"/>
            <a:r>
              <a:rPr lang="en-US" dirty="0"/>
              <a:t>Peripheral errors and intrinsic difficulty are conflated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i="1" dirty="0"/>
              <a:t>We want AI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assisted</a:t>
            </a:r>
            <a:r>
              <a:rPr lang="zh-CN" altLang="en-US" sz="2400" b="1" i="1" dirty="0"/>
              <a:t> </a:t>
            </a:r>
            <a:r>
              <a:rPr lang="en-US" sz="2400" b="1" i="1" dirty="0"/>
              <a:t>proofs that enhance human understanding</a:t>
            </a:r>
            <a:r>
              <a:rPr lang="en-US" altLang="zh-CN" sz="2400" b="1" i="1" dirty="0"/>
              <a:t>,</a:t>
            </a:r>
            <a:r>
              <a:rPr lang="zh-CN" altLang="en-US" sz="2400" b="1" i="1" dirty="0"/>
              <a:t> </a:t>
            </a:r>
            <a:r>
              <a:rPr lang="en-US" sz="2400" b="1" i="1" dirty="0"/>
              <a:t>not just accumulate truths.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962E1D-DF3F-5800-661F-B48F0941EF9A}"/>
              </a:ext>
            </a:extLst>
          </p:cNvPr>
          <p:cNvSpPr txBox="1">
            <a:spLocks/>
          </p:cNvSpPr>
          <p:nvPr/>
        </p:nvSpPr>
        <p:spPr>
          <a:xfrm>
            <a:off x="0" y="4967785"/>
            <a:ext cx="12192000" cy="1613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Our</a:t>
            </a:r>
            <a:r>
              <a:rPr lang="zh-CN" altLang="en-US" sz="2400" dirty="0"/>
              <a:t> </a:t>
            </a:r>
            <a:r>
              <a:rPr lang="en-US" altLang="zh-CN" sz="2400" dirty="0"/>
              <a:t>objective:</a:t>
            </a:r>
          </a:p>
          <a:p>
            <a:pPr marL="0" indent="0">
              <a:buNone/>
            </a:pPr>
            <a:r>
              <a:rPr lang="en-US" sz="2400" dirty="0"/>
              <a:t>Design a system that produces traces that are not only human-readable but human-learnable</a:t>
            </a:r>
            <a:r>
              <a:rPr lang="en-US" altLang="zh-C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966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EBD3-4E70-9EED-B397-D8A927D3F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Solution</a:t>
            </a:r>
            <a:r>
              <a:rPr lang="zh-CN" altLang="en-US" dirty="0"/>
              <a:t> </a:t>
            </a:r>
            <a:r>
              <a:rPr lang="en-US" altLang="zh-CN" dirty="0"/>
              <a:t>1/2:</a:t>
            </a:r>
            <a:r>
              <a:rPr lang="zh-CN" altLang="en-US" dirty="0"/>
              <a:t> </a:t>
            </a:r>
            <a:r>
              <a:rPr lang="en-US" altLang="zh-CN" dirty="0"/>
              <a:t>Prover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052F1-4BD8-B374-8C65-564440CBC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07" y="1348306"/>
            <a:ext cx="3402839" cy="50948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64970E-C47C-15F7-8437-D3222CFE7F40}"/>
              </a:ext>
            </a:extLst>
          </p:cNvPr>
          <p:cNvSpPr/>
          <p:nvPr/>
        </p:nvSpPr>
        <p:spPr>
          <a:xfrm>
            <a:off x="163773" y="1241946"/>
            <a:ext cx="7642746" cy="530897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074F9-1C73-7E3A-B054-4DF05B2C5AF8}"/>
              </a:ext>
            </a:extLst>
          </p:cNvPr>
          <p:cNvSpPr txBox="1"/>
          <p:nvPr/>
        </p:nvSpPr>
        <p:spPr>
          <a:xfrm>
            <a:off x="3680346" y="2240262"/>
            <a:ext cx="394875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Candara" panose="020E0502030303020204" pitchFamily="34" charset="0"/>
              </a:rPr>
              <a:t>                </a:t>
            </a:r>
            <a:r>
              <a:rPr lang="en-US" altLang="zh-CN" sz="2400" dirty="0">
                <a:latin typeface="Candara" panose="020E0502030303020204" pitchFamily="34" charset="0"/>
              </a:rPr>
              <a:t>Prover</a:t>
            </a:r>
            <a:r>
              <a:rPr lang="zh-CN" altLang="en-US" sz="2400" dirty="0">
                <a:latin typeface="Candara" panose="020E0502030303020204" pitchFamily="34" charset="0"/>
              </a:rPr>
              <a:t> </a:t>
            </a:r>
            <a:r>
              <a:rPr lang="en-US" altLang="zh-CN" sz="2400" dirty="0">
                <a:latin typeface="Candara" panose="020E0502030303020204" pitchFamily="34" charset="0"/>
              </a:rPr>
              <a:t>Agent</a:t>
            </a:r>
          </a:p>
          <a:p>
            <a:endParaRPr lang="en-US" altLang="zh-CN" sz="2400" dirty="0">
              <a:latin typeface="Candara" panose="020E05020303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ndara" panose="020E0502030303020204" pitchFamily="34" charset="0"/>
              </a:rPr>
              <a:t>Plan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-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 err="1">
                <a:latin typeface="Candara" panose="020E0502030303020204" pitchFamily="34" charset="0"/>
              </a:rPr>
              <a:t>Impl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  <a:sym typeface="Wingdings" pitchFamily="2" charset="2"/>
              </a:rPr>
              <a:t>-</a:t>
            </a:r>
            <a:r>
              <a:rPr lang="zh-CN" altLang="en-US" sz="2000" dirty="0">
                <a:latin typeface="Candara" panose="020E0502030303020204" pitchFamily="34" charset="0"/>
                <a:sym typeface="Wingdings" pitchFamily="2" charset="2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  <a:sym typeface="Wingdings" pitchFamily="2" charset="2"/>
              </a:rPr>
              <a:t>Replan</a:t>
            </a:r>
            <a:r>
              <a:rPr lang="zh-CN" altLang="en-US" sz="2000" dirty="0">
                <a:latin typeface="Candara" panose="020E0502030303020204" pitchFamily="34" charset="0"/>
                <a:sym typeface="Wingdings" pitchFamily="2" charset="2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  <a:sym typeface="Wingdings" pitchFamily="2" charset="2"/>
              </a:rPr>
              <a:t>Loop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Candara" panose="020E0502030303020204" pitchFamily="34" charset="0"/>
              <a:sym typeface="Wingdings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ndara" panose="020E0502030303020204" pitchFamily="34" charset="0"/>
              </a:rPr>
              <a:t>Skeleton with "sorry"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Candara" panose="020E05020303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ndara" panose="020E0502030303020204" pitchFamily="34" charset="0"/>
              </a:rPr>
              <a:t>Formal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checker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at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every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step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Candara" panose="020E05020303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ndara" panose="020E0502030303020204" pitchFamily="34" charset="0"/>
              </a:rPr>
              <a:t>Separate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bug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fix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vs.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math</a:t>
            </a:r>
            <a:r>
              <a:rPr lang="zh-CN" altLang="en-US" sz="2000" dirty="0">
                <a:latin typeface="Candara" panose="020E0502030303020204" pitchFamily="34" charset="0"/>
              </a:rPr>
              <a:t> </a:t>
            </a:r>
            <a:r>
              <a:rPr lang="en-US" altLang="zh-CN" sz="2000" dirty="0">
                <a:latin typeface="Candara" panose="020E0502030303020204" pitchFamily="34" charset="0"/>
              </a:rPr>
              <a:t>step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91719-370D-03D3-A015-3858F62A39CF}"/>
              </a:ext>
            </a:extLst>
          </p:cNvPr>
          <p:cNvSpPr/>
          <p:nvPr/>
        </p:nvSpPr>
        <p:spPr>
          <a:xfrm>
            <a:off x="8284192" y="2340543"/>
            <a:ext cx="3744036" cy="278487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38C75-DA47-89B1-7E72-0966D1A50AD3}"/>
              </a:ext>
            </a:extLst>
          </p:cNvPr>
          <p:cNvSpPr txBox="1"/>
          <p:nvPr/>
        </p:nvSpPr>
        <p:spPr>
          <a:xfrm>
            <a:off x="8284192" y="2378664"/>
            <a:ext cx="368716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Candara" panose="020E0502030303020204" pitchFamily="34" charset="0"/>
              </a:rPr>
              <a:t>              </a:t>
            </a:r>
            <a:r>
              <a:rPr lang="en-US" altLang="zh-CN" sz="2400" dirty="0">
                <a:latin typeface="Candara" panose="020E0502030303020204" pitchFamily="34" charset="0"/>
              </a:rPr>
              <a:t>Digest</a:t>
            </a:r>
            <a:r>
              <a:rPr lang="zh-CN" altLang="en-US" sz="2400" dirty="0">
                <a:latin typeface="Candara" panose="020E0502030303020204" pitchFamily="34" charset="0"/>
              </a:rPr>
              <a:t> </a:t>
            </a:r>
            <a:r>
              <a:rPr lang="en-US" altLang="zh-CN" sz="2400" dirty="0">
                <a:latin typeface="Candara" panose="020E0502030303020204" pitchFamily="34" charset="0"/>
              </a:rPr>
              <a:t>Agent</a:t>
            </a:r>
          </a:p>
          <a:p>
            <a:endParaRPr lang="en-US" altLang="zh-CN" sz="2000" dirty="0">
              <a:latin typeface="Candara" panose="020E05020303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andara" panose="020E0502030303020204" pitchFamily="34" charset="0"/>
              </a:rPr>
              <a:t>1. Reinterpretation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andara" panose="020E0502030303020204" pitchFamily="34" charset="0"/>
              </a:rPr>
              <a:t>2. Scope Expansion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andara" panose="020E0502030303020204" pitchFamily="34" charset="0"/>
              </a:rPr>
              <a:t>3. Progressive Construction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andara" panose="020E0502030303020204" pitchFamily="34" charset="0"/>
              </a:rPr>
              <a:t>4. Strategy Templates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Candara" panose="020E05020303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2A5A3D-06CA-0EB3-239B-8279D22BBD96}"/>
              </a:ext>
            </a:extLst>
          </p:cNvPr>
          <p:cNvSpPr txBox="1"/>
          <p:nvPr/>
        </p:nvSpPr>
        <p:spPr>
          <a:xfrm>
            <a:off x="9316871" y="1386426"/>
            <a:ext cx="1105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ndara" panose="020E0502030303020204" pitchFamily="34" charset="0"/>
              </a:rPr>
              <a:t>Traces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16" name="Bent Arrow 15">
            <a:extLst>
              <a:ext uri="{FF2B5EF4-FFF2-40B4-BE49-F238E27FC236}">
                <a16:creationId xmlns:a16="http://schemas.microsoft.com/office/drawing/2014/main" id="{59B0CBD5-E3E2-C7B7-419C-CA9AB6048D17}"/>
              </a:ext>
            </a:extLst>
          </p:cNvPr>
          <p:cNvSpPr/>
          <p:nvPr/>
        </p:nvSpPr>
        <p:spPr>
          <a:xfrm rot="5400000">
            <a:off x="8359253" y="1166884"/>
            <a:ext cx="928101" cy="1078225"/>
          </a:xfrm>
          <a:prstGeom prst="ben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Bent Arrow 16">
            <a:extLst>
              <a:ext uri="{FF2B5EF4-FFF2-40B4-BE49-F238E27FC236}">
                <a16:creationId xmlns:a16="http://schemas.microsoft.com/office/drawing/2014/main" id="{DB204476-5BEC-A2F8-E2F1-00B4489AAB16}"/>
              </a:ext>
            </a:extLst>
          </p:cNvPr>
          <p:cNvSpPr/>
          <p:nvPr/>
        </p:nvSpPr>
        <p:spPr>
          <a:xfrm rot="10800000">
            <a:off x="8284191" y="5402218"/>
            <a:ext cx="928101" cy="1078225"/>
          </a:xfrm>
          <a:prstGeom prst="ben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6D4854-743A-F7EB-3AD8-68B5CAF8DA7A}"/>
              </a:ext>
            </a:extLst>
          </p:cNvPr>
          <p:cNvSpPr txBox="1"/>
          <p:nvPr/>
        </p:nvSpPr>
        <p:spPr>
          <a:xfrm>
            <a:off x="9316870" y="5710200"/>
            <a:ext cx="1105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ndara" panose="020E0502030303020204" pitchFamily="34" charset="0"/>
              </a:rPr>
              <a:t>Lessons</a:t>
            </a:r>
            <a:endParaRPr 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723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D638-F102-95BB-9E97-F38F4FFCA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Solution</a:t>
            </a:r>
            <a:r>
              <a:rPr lang="zh-CN" altLang="en-US"/>
              <a:t> </a:t>
            </a:r>
            <a:r>
              <a:rPr lang="en-US" altLang="zh-CN"/>
              <a:t>2/2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Digest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18FB6-203F-78CF-50C8-606A8D10E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8306"/>
            <a:ext cx="12037326" cy="5092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i="1" dirty="0"/>
              <a:t>How</a:t>
            </a:r>
            <a:r>
              <a:rPr lang="zh-CN" altLang="en-US" i="1" dirty="0"/>
              <a:t> </a:t>
            </a:r>
            <a:r>
              <a:rPr lang="en-US" altLang="zh-CN" i="1" dirty="0"/>
              <a:t>would</a:t>
            </a:r>
            <a:r>
              <a:rPr lang="zh-CN" altLang="en-US" i="1" dirty="0"/>
              <a:t> </a:t>
            </a:r>
            <a:r>
              <a:rPr lang="en-US" altLang="zh-CN" i="1" dirty="0"/>
              <a:t>human</a:t>
            </a:r>
            <a:r>
              <a:rPr lang="zh-CN" altLang="en-US" i="1" dirty="0"/>
              <a:t> </a:t>
            </a:r>
            <a:r>
              <a:rPr lang="en-US" altLang="zh-CN" i="1" dirty="0"/>
              <a:t>digest</a:t>
            </a:r>
            <a:r>
              <a:rPr lang="zh-CN" altLang="en-US" i="1" dirty="0"/>
              <a:t> </a:t>
            </a:r>
            <a:r>
              <a:rPr lang="en-US" altLang="zh-CN" i="1" dirty="0"/>
              <a:t>a</a:t>
            </a:r>
            <a:r>
              <a:rPr lang="zh-CN" altLang="en-US" i="1" dirty="0"/>
              <a:t> </a:t>
            </a:r>
            <a:r>
              <a:rPr lang="en-US" altLang="zh-CN" i="1" dirty="0"/>
              <a:t>problem?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dirty="0"/>
              <a:t>Given n complex numbers with ∑|zₖ| = 1, prove ∃ subset S with |∑</a:t>
            </a:r>
            <a:r>
              <a:rPr lang="en-US" altLang="zh-CN" dirty="0"/>
              <a:t>_s</a:t>
            </a:r>
            <a:r>
              <a:rPr lang="en-US" dirty="0"/>
              <a:t> zₖ| ≥ 1/6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digest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following: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1. Reinterpretation</a:t>
            </a:r>
            <a:r>
              <a:rPr lang="en-US" altLang="zh-CN" dirty="0"/>
              <a:t>:</a:t>
            </a:r>
            <a:r>
              <a:rPr lang="en-US" dirty="0"/>
              <a:t> "complex numbers → 2D vectors"</a:t>
            </a:r>
          </a:p>
          <a:p>
            <a:pPr marL="0" indent="0">
              <a:buNone/>
            </a:pPr>
            <a:r>
              <a:rPr lang="en-US" dirty="0"/>
              <a:t>2. Scope expansion 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"can we beat 1/6?"</a:t>
            </a:r>
          </a:p>
          <a:p>
            <a:pPr marL="0" indent="0">
              <a:buNone/>
            </a:pPr>
            <a:r>
              <a:rPr lang="en-US" dirty="0"/>
              <a:t>3. Progressive construction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"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vectors</a:t>
            </a:r>
            <a:r>
              <a:rPr lang="zh-CN" altLang="en-US" dirty="0"/>
              <a:t> </a:t>
            </a:r>
            <a:r>
              <a:rPr lang="en-US" altLang="zh-CN" dirty="0"/>
              <a:t>instead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n?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4. Strategy templates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"</a:t>
            </a:r>
            <a:r>
              <a:rPr lang="en-US" altLang="zh-CN" dirty="0"/>
              <a:t>P</a:t>
            </a:r>
            <a:r>
              <a:rPr lang="en-US" dirty="0"/>
              <a:t>igeonhole</a:t>
            </a:r>
            <a:r>
              <a:rPr lang="en-US" altLang="zh-CN" dirty="0"/>
              <a:t>!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en-US" dirty="0"/>
              <a:t> </a:t>
            </a:r>
            <a:r>
              <a:rPr lang="en-US" altLang="zh-CN" dirty="0"/>
              <a:t>Failure</a:t>
            </a:r>
            <a:r>
              <a:rPr lang="zh-CN" altLang="en-US" dirty="0"/>
              <a:t> </a:t>
            </a:r>
            <a:r>
              <a:rPr lang="en-US" altLang="zh-CN" dirty="0"/>
              <a:t>lessons:</a:t>
            </a:r>
            <a:r>
              <a:rPr lang="zh-CN" altLang="en-US" dirty="0"/>
              <a:t> </a:t>
            </a:r>
            <a:r>
              <a:rPr lang="en-US" altLang="zh-CN" dirty="0"/>
              <a:t>"We</a:t>
            </a:r>
            <a:r>
              <a:rPr lang="zh-CN" altLang="en-US" dirty="0"/>
              <a:t> </a:t>
            </a:r>
            <a:r>
              <a:rPr lang="en-US" altLang="zh-CN" dirty="0"/>
              <a:t>tried</a:t>
            </a:r>
            <a:r>
              <a:rPr lang="zh-CN" altLang="en-US" dirty="0"/>
              <a:t> </a:t>
            </a:r>
            <a:r>
              <a:rPr lang="en-US" altLang="zh-CN" dirty="0"/>
              <a:t>X.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won't</a:t>
            </a:r>
            <a:r>
              <a:rPr lang="zh-CN" altLang="en-US" dirty="0"/>
              <a:t> </a:t>
            </a:r>
            <a:r>
              <a:rPr lang="en-US" altLang="zh-CN" dirty="0"/>
              <a:t>work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here's</a:t>
            </a:r>
            <a:r>
              <a:rPr lang="zh-CN" altLang="en-US" dirty="0"/>
              <a:t> </a:t>
            </a:r>
            <a:r>
              <a:rPr lang="en-US" altLang="zh-CN" dirty="0"/>
              <a:t>why."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511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EE29B-3E4D-BD66-3348-09C36BB4D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E447-575F-EABB-18F0-E3462A867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</a:t>
            </a:r>
            <a:r>
              <a:rPr lang="en-US" altLang="zh-CN" dirty="0"/>
              <a:t>uation</a:t>
            </a:r>
            <a:r>
              <a:rPr lang="zh-CN" altLang="en-US" dirty="0"/>
              <a:t> </a:t>
            </a:r>
            <a:r>
              <a:rPr lang="en-US" altLang="zh-CN" dirty="0"/>
              <a:t>1/3: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Curation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E516C-B319-685D-B6D2-21CB60875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59" y="1131271"/>
            <a:ext cx="6519126" cy="570398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Core</a:t>
            </a:r>
            <a:r>
              <a:rPr lang="zh-CN" altLang="en-US" sz="2400" dirty="0"/>
              <a:t> </a:t>
            </a:r>
            <a:r>
              <a:rPr lang="en-US" altLang="zh-CN" sz="2400" dirty="0"/>
              <a:t>raw</a:t>
            </a:r>
            <a:r>
              <a:rPr lang="zh-CN" altLang="en-US" sz="2400" dirty="0"/>
              <a:t> </a:t>
            </a:r>
            <a:r>
              <a:rPr lang="en-US" altLang="zh-CN" sz="2400" dirty="0"/>
              <a:t>data:</a:t>
            </a:r>
            <a:r>
              <a:rPr lang="zh-CN" altLang="en-US" sz="2400" dirty="0"/>
              <a:t> </a:t>
            </a:r>
            <a:r>
              <a:rPr lang="en-US" altLang="zh-CN" sz="2400" b="1" dirty="0"/>
              <a:t>math-notes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obsidian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vault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Features: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455</a:t>
            </a:r>
            <a:r>
              <a:rPr lang="zh-CN" altLang="en-US" sz="2400" dirty="0"/>
              <a:t> </a:t>
            </a:r>
            <a:r>
              <a:rPr lang="en-US" altLang="zh-CN" sz="2400" dirty="0"/>
              <a:t>notes,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1596</a:t>
            </a:r>
            <a:r>
              <a:rPr lang="zh-CN" altLang="en-US" sz="2400" dirty="0"/>
              <a:t> </a:t>
            </a:r>
            <a:r>
              <a:rPr lang="en-US" altLang="zh-CN" sz="2400" dirty="0"/>
              <a:t>note-level</a:t>
            </a:r>
            <a:r>
              <a:rPr lang="zh-CN" altLang="en-US" sz="2400" dirty="0"/>
              <a:t> </a:t>
            </a:r>
            <a:r>
              <a:rPr lang="en-US" altLang="zh-CN" sz="2400" dirty="0"/>
              <a:t>edges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Inside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note: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Human-authored reasoning, not just solutions 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Difficulty progression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Between</a:t>
            </a:r>
            <a:r>
              <a:rPr lang="zh-CN" altLang="en-US" sz="2400" dirty="0"/>
              <a:t> </a:t>
            </a:r>
            <a:r>
              <a:rPr lang="en-US" altLang="zh-CN" sz="2400" dirty="0"/>
              <a:t>notes: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explicit relational structure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few general strategies, many specific</a:t>
            </a:r>
            <a:r>
              <a:rPr lang="zh-CN" altLang="en-US" sz="2400" dirty="0"/>
              <a:t> </a:t>
            </a:r>
            <a:r>
              <a:rPr lang="en-US" altLang="zh-CN" sz="2400" dirty="0"/>
              <a:t>problems 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02AEA9-D735-5BAD-F1C4-8AD486D0B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185" y="1348306"/>
            <a:ext cx="5587815" cy="45335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9228E6-4317-F695-8BCF-67756FEAA62C}"/>
              </a:ext>
            </a:extLst>
          </p:cNvPr>
          <p:cNvSpPr txBox="1"/>
          <p:nvPr/>
        </p:nvSpPr>
        <p:spPr>
          <a:xfrm>
            <a:off x="6738864" y="6173870"/>
            <a:ext cx="5453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ndara" panose="020E0502030303020204" pitchFamily="34" charset="0"/>
              </a:rPr>
              <a:t>Vault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author: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Pikachu345@Bilibili,</a:t>
            </a:r>
            <a:r>
              <a:rPr lang="zh-CN" altLang="en-US" dirty="0">
                <a:latin typeface="Candara" panose="020E0502030303020204" pitchFamily="34" charset="0"/>
              </a:rPr>
              <a:t> </a:t>
            </a:r>
            <a:r>
              <a:rPr lang="en-US" altLang="zh-CN" dirty="0">
                <a:latin typeface="Candara" panose="020E0502030303020204" pitchFamily="34" charset="0"/>
              </a:rPr>
              <a:t>proprietary</a:t>
            </a:r>
          </a:p>
        </p:txBody>
      </p:sp>
    </p:spTree>
    <p:extLst>
      <p:ext uri="{BB962C8B-B14F-4D97-AF65-F5344CB8AC3E}">
        <p14:creationId xmlns:p14="http://schemas.microsoft.com/office/powerpoint/2010/main" val="60903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970F-F374-7793-3790-E3F4602F8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</a:t>
            </a:r>
            <a:r>
              <a:rPr lang="en-US" altLang="zh-CN" dirty="0"/>
              <a:t>uation</a:t>
            </a:r>
            <a:r>
              <a:rPr lang="zh-CN" altLang="en-US" dirty="0"/>
              <a:t> </a:t>
            </a:r>
            <a:r>
              <a:rPr lang="en-US" altLang="zh-CN" dirty="0"/>
              <a:t>1/3: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Curation</a:t>
            </a:r>
            <a:r>
              <a:rPr lang="zh-CN" altLang="en-US" dirty="0"/>
              <a:t> </a:t>
            </a:r>
            <a:r>
              <a:rPr lang="en-US" altLang="zh-CN" dirty="0"/>
              <a:t>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A2865-7DB1-122C-CDF8-EAFC6FB96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59" y="1131271"/>
            <a:ext cx="6096000" cy="278563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curation?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One note ≠ one problem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Strategy</a:t>
            </a:r>
            <a:r>
              <a:rPr lang="zh-CN" altLang="en-US" dirty="0"/>
              <a:t> </a:t>
            </a:r>
            <a:r>
              <a:rPr lang="en-US" altLang="zh-CN" dirty="0"/>
              <a:t>node</a:t>
            </a:r>
            <a:r>
              <a:rPr lang="zh-CN" altLang="en-US" dirty="0"/>
              <a:t> </a:t>
            </a:r>
            <a:r>
              <a:rPr lang="en-US" altLang="zh-CN" dirty="0"/>
              <a:t>vs.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node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node-level</a:t>
            </a:r>
            <a:r>
              <a:rPr lang="zh-CN" altLang="en-US" dirty="0"/>
              <a:t> </a:t>
            </a:r>
            <a:r>
              <a:rPr lang="en-US" altLang="zh-CN" dirty="0"/>
              <a:t>edges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problem-level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Raw</a:t>
            </a:r>
            <a:r>
              <a:rPr lang="zh-CN" altLang="en-US" dirty="0"/>
              <a:t> </a:t>
            </a:r>
            <a:r>
              <a:rPr lang="en-US" altLang="zh-CN" dirty="0"/>
              <a:t>notes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natural</a:t>
            </a:r>
            <a:r>
              <a:rPr lang="zh-CN" altLang="en-US" dirty="0"/>
              <a:t> </a:t>
            </a:r>
            <a:r>
              <a:rPr lang="en-US" altLang="zh-CN" dirty="0"/>
              <a:t>language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1FF9DC-689F-5F92-539C-5081C6D8A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311" y="1131271"/>
            <a:ext cx="5795630" cy="54826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0F8BE6-1432-6F74-9ED9-2DE8A1018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9" y="3916906"/>
            <a:ext cx="6114568" cy="269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4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03A9-5238-18CD-AACB-D20574FE2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</a:t>
            </a:r>
            <a:r>
              <a:rPr lang="en-US" altLang="zh-CN" dirty="0"/>
              <a:t>ation</a:t>
            </a:r>
            <a:r>
              <a:rPr lang="zh-CN" altLang="en-US" dirty="0"/>
              <a:t> </a:t>
            </a:r>
            <a:r>
              <a:rPr lang="en-US" altLang="zh-CN" dirty="0"/>
              <a:t>2/3:</a:t>
            </a:r>
            <a:r>
              <a:rPr lang="zh-CN" altLang="en-US" dirty="0"/>
              <a:t> </a:t>
            </a:r>
            <a:r>
              <a:rPr lang="en-US" altLang="zh-CN" dirty="0"/>
              <a:t>Prover</a:t>
            </a:r>
            <a:r>
              <a:rPr lang="zh-CN" altLang="en-US" dirty="0"/>
              <a:t> </a:t>
            </a:r>
            <a:r>
              <a:rPr lang="en-US" altLang="zh-CN" dirty="0"/>
              <a:t>effectiveness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9C9CE-44AE-4BEA-E787-C4CF87898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3185"/>
            <a:ext cx="6096000" cy="5732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Eva</a:t>
            </a:r>
            <a:r>
              <a:rPr lang="en-US" altLang="zh-CN" dirty="0"/>
              <a:t>luation</a:t>
            </a:r>
            <a:r>
              <a:rPr lang="zh-CN" altLang="en-US" dirty="0"/>
              <a:t> </a:t>
            </a:r>
            <a:r>
              <a:rPr lang="en-US" altLang="zh-CN" dirty="0"/>
              <a:t>setup</a:t>
            </a:r>
          </a:p>
          <a:p>
            <a:pPr marL="0" indent="0">
              <a:buNone/>
            </a:pPr>
            <a:r>
              <a:rPr lang="en-US" altLang="zh-CN" dirty="0"/>
              <a:t>Env:</a:t>
            </a:r>
          </a:p>
          <a:p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(Opus</a:t>
            </a:r>
            <a:r>
              <a:rPr lang="zh-CN" altLang="en-US" dirty="0"/>
              <a:t> </a:t>
            </a:r>
            <a:r>
              <a:rPr lang="en-US" altLang="zh-CN" dirty="0"/>
              <a:t>4.6,</a:t>
            </a:r>
            <a:r>
              <a:rPr lang="zh-CN" altLang="en-US" dirty="0"/>
              <a:t> </a:t>
            </a:r>
            <a:r>
              <a:rPr lang="en-US" altLang="zh-CN" dirty="0"/>
              <a:t>GPT</a:t>
            </a:r>
            <a:r>
              <a:rPr lang="zh-CN" altLang="en-US" dirty="0"/>
              <a:t> </a:t>
            </a:r>
            <a:r>
              <a:rPr lang="en-US" altLang="zh-CN" dirty="0"/>
              <a:t>5.4,</a:t>
            </a:r>
            <a:r>
              <a:rPr lang="zh-CN" altLang="en-US" dirty="0"/>
              <a:t> </a:t>
            </a:r>
            <a:r>
              <a:rPr lang="en-US" altLang="zh-CN" dirty="0"/>
              <a:t>...)</a:t>
            </a:r>
          </a:p>
          <a:p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</a:p>
          <a:p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LEAN</a:t>
            </a:r>
            <a:r>
              <a:rPr lang="zh-CN" altLang="en-US" dirty="0"/>
              <a:t> </a:t>
            </a:r>
            <a:r>
              <a:rPr lang="en-US" altLang="zh-CN" dirty="0"/>
              <a:t>checker</a:t>
            </a:r>
            <a:r>
              <a:rPr lang="zh-CN" altLang="en-US" dirty="0"/>
              <a:t> </a:t>
            </a:r>
            <a:r>
              <a:rPr lang="en-US" altLang="zh-CN" dirty="0"/>
              <a:t>MCP</a:t>
            </a:r>
            <a:r>
              <a:rPr lang="zh-CN" altLang="en-US" dirty="0"/>
              <a:t> </a:t>
            </a:r>
            <a:r>
              <a:rPr lang="en-US" altLang="zh-CN" dirty="0"/>
              <a:t>tools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altLang="zh-CN" dirty="0"/>
              <a:t>Baseline:</a:t>
            </a:r>
            <a:r>
              <a:rPr lang="zh-CN" altLang="en-US" dirty="0"/>
              <a:t> </a:t>
            </a:r>
            <a:r>
              <a:rPr lang="en-US" altLang="zh-CN" dirty="0"/>
              <a:t>free</a:t>
            </a:r>
            <a:r>
              <a:rPr lang="zh-CN" altLang="en-US" dirty="0"/>
              <a:t> </a:t>
            </a:r>
            <a:r>
              <a:rPr lang="en-US" altLang="zh-CN" dirty="0"/>
              <a:t>agents</a:t>
            </a:r>
          </a:p>
          <a:p>
            <a:pPr lvl="1"/>
            <a:r>
              <a:rPr lang="en-US" altLang="zh-CN" dirty="0"/>
              <a:t>Claude</a:t>
            </a:r>
            <a:r>
              <a:rPr lang="zh-CN" altLang="en-US" dirty="0"/>
              <a:t> </a:t>
            </a:r>
            <a:r>
              <a:rPr lang="en-US" altLang="zh-CN" dirty="0"/>
              <a:t>Code,</a:t>
            </a:r>
            <a:r>
              <a:rPr lang="zh-CN" altLang="en-US" dirty="0"/>
              <a:t> </a:t>
            </a:r>
            <a:r>
              <a:rPr lang="en-US" altLang="zh-CN" dirty="0" err="1"/>
              <a:t>opencode</a:t>
            </a:r>
            <a:endParaRPr lang="en-US" altLang="zh-CN" dirty="0"/>
          </a:p>
          <a:p>
            <a:pPr lvl="1"/>
            <a:r>
              <a:rPr lang="en-US" altLang="zh-CN" dirty="0" err="1"/>
              <a:t>ReProver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Lean</a:t>
            </a:r>
            <a:r>
              <a:rPr lang="zh-CN" altLang="en-US" dirty="0"/>
              <a:t> </a:t>
            </a:r>
            <a:r>
              <a:rPr lang="en-US" altLang="zh-CN" dirty="0"/>
              <a:t>Copilot,</a:t>
            </a:r>
            <a:r>
              <a:rPr lang="zh-CN" altLang="en-US" dirty="0"/>
              <a:t> </a:t>
            </a:r>
            <a:r>
              <a:rPr lang="en-US" altLang="zh-CN" dirty="0" err="1"/>
              <a:t>InternLM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solution:</a:t>
            </a:r>
            <a:r>
              <a:rPr lang="zh-CN" altLang="en-US" dirty="0"/>
              <a:t> </a:t>
            </a:r>
            <a:r>
              <a:rPr lang="en-US" altLang="zh-CN" dirty="0"/>
              <a:t>structured</a:t>
            </a:r>
            <a:r>
              <a:rPr lang="zh-CN" altLang="en-US" dirty="0"/>
              <a:t> </a:t>
            </a:r>
            <a:r>
              <a:rPr lang="en-US" altLang="zh-CN" dirty="0"/>
              <a:t>agents</a:t>
            </a:r>
          </a:p>
          <a:p>
            <a:pPr lvl="1"/>
            <a:r>
              <a:rPr lang="en-US" altLang="zh-CN" dirty="0"/>
              <a:t>Plan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 err="1"/>
              <a:t>Impl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Replan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 err="1"/>
              <a:t>SKILL.md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BD8A3-D822-2149-D836-F370BE086167}"/>
              </a:ext>
            </a:extLst>
          </p:cNvPr>
          <p:cNvSpPr txBox="1"/>
          <p:nvPr/>
        </p:nvSpPr>
        <p:spPr>
          <a:xfrm>
            <a:off x="5704764" y="1644639"/>
            <a:ext cx="5568287" cy="2028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latin typeface="Candara" panose="020E0502030303020204" pitchFamily="34" charset="0"/>
              </a:rPr>
              <a:t>Metrics</a:t>
            </a:r>
            <a:r>
              <a:rPr lang="en-US" altLang="zh-CN" sz="2800" dirty="0">
                <a:latin typeface="Candara" panose="020E0502030303020204" pitchFamily="34" charset="0"/>
              </a:rPr>
              <a:t>: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ndara" panose="020E0502030303020204" pitchFamily="34" charset="0"/>
              </a:rPr>
              <a:t>Pass</a:t>
            </a:r>
            <a:r>
              <a:rPr lang="en-US" altLang="zh-CN" sz="2800" dirty="0" err="1">
                <a:latin typeface="Candara" panose="020E0502030303020204" pitchFamily="34" charset="0"/>
              </a:rPr>
              <a:t>@k</a:t>
            </a:r>
            <a:endParaRPr lang="en-US" altLang="zh-CN" sz="2800" dirty="0">
              <a:latin typeface="Candara" panose="020E0502030303020204" pitchFamily="34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Candara" panose="020E0502030303020204" pitchFamily="34" charset="0"/>
              </a:rPr>
              <a:t>Iteration</a:t>
            </a:r>
            <a:r>
              <a:rPr lang="zh-CN" altLang="en-US" sz="2800" dirty="0">
                <a:latin typeface="Candara" panose="020E0502030303020204" pitchFamily="34" charset="0"/>
              </a:rPr>
              <a:t> </a:t>
            </a:r>
            <a:r>
              <a:rPr lang="en-US" altLang="zh-CN" sz="2800" dirty="0">
                <a:latin typeface="Candara" panose="020E0502030303020204" pitchFamily="34" charset="0"/>
              </a:rPr>
              <a:t>count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Candara" panose="020E0502030303020204" pitchFamily="34" charset="0"/>
              </a:rPr>
              <a:t>Error</a:t>
            </a:r>
            <a:r>
              <a:rPr lang="zh-CN" altLang="en-US" sz="2800" dirty="0">
                <a:latin typeface="Candara" panose="020E0502030303020204" pitchFamily="34" charset="0"/>
              </a:rPr>
              <a:t> </a:t>
            </a:r>
            <a:r>
              <a:rPr lang="en-US" altLang="zh-CN" sz="2800" dirty="0">
                <a:latin typeface="Candara" panose="020E0502030303020204" pitchFamily="34" charset="0"/>
              </a:rPr>
              <a:t>type</a:t>
            </a:r>
            <a:endParaRPr lang="en-US" sz="2800" dirty="0">
              <a:latin typeface="Candara" panose="020E05020303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86F321-3433-F8C7-F16D-7D0D8D22F777}"/>
              </a:ext>
            </a:extLst>
          </p:cNvPr>
          <p:cNvSpPr txBox="1"/>
          <p:nvPr/>
        </p:nvSpPr>
        <p:spPr>
          <a:xfrm>
            <a:off x="5704764" y="3939647"/>
            <a:ext cx="6096000" cy="1512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latin typeface="Candara" panose="020E0502030303020204" pitchFamily="34" charset="0"/>
              </a:rPr>
              <a:t>preliminary result</a:t>
            </a:r>
            <a:r>
              <a:rPr lang="en-US" altLang="zh-CN" sz="2800" dirty="0">
                <a:latin typeface="Candara" panose="020E0502030303020204" pitchFamily="34" charset="0"/>
              </a:rPr>
              <a:t>(1</a:t>
            </a:r>
            <a:r>
              <a:rPr lang="zh-CN" altLang="en-US" sz="2800" dirty="0">
                <a:latin typeface="Candara" panose="020E0502030303020204" pitchFamily="34" charset="0"/>
              </a:rPr>
              <a:t> </a:t>
            </a:r>
            <a:r>
              <a:rPr lang="en-US" altLang="zh-CN" sz="2800" dirty="0">
                <a:latin typeface="Candara" panose="020E0502030303020204" pitchFamily="34" charset="0"/>
              </a:rPr>
              <a:t>example</a:t>
            </a:r>
            <a:r>
              <a:rPr lang="zh-CN" altLang="en-US" sz="2800" dirty="0">
                <a:latin typeface="Candara" panose="020E0502030303020204" pitchFamily="34" charset="0"/>
              </a:rPr>
              <a:t> </a:t>
            </a:r>
            <a:r>
              <a:rPr lang="en-US" altLang="zh-CN" sz="2800" dirty="0">
                <a:latin typeface="Candara" panose="020E0502030303020204" pitchFamily="34" charset="0"/>
              </a:rPr>
              <a:t>problem):</a:t>
            </a:r>
            <a:r>
              <a:rPr lang="en-US" sz="2800" dirty="0">
                <a:latin typeface="Candara" panose="020E0502030303020204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dirty="0">
              <a:latin typeface="Candara" panose="020E0502030303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dirty="0">
              <a:latin typeface="Candara" panose="020E0502030303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07AA1A2-6840-7D47-96D4-C63DC53CE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549515"/>
              </p:ext>
            </p:extLst>
          </p:nvPr>
        </p:nvGraphicFramePr>
        <p:xfrm>
          <a:off x="5704764" y="4489562"/>
          <a:ext cx="6487236" cy="2072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335">
                  <a:extLst>
                    <a:ext uri="{9D8B030D-6E8A-4147-A177-3AD203B41FA5}">
                      <a16:colId xmlns:a16="http://schemas.microsoft.com/office/drawing/2014/main" val="2556952295"/>
                    </a:ext>
                  </a:extLst>
                </a:gridCol>
                <a:gridCol w="1405719">
                  <a:extLst>
                    <a:ext uri="{9D8B030D-6E8A-4147-A177-3AD203B41FA5}">
                      <a16:colId xmlns:a16="http://schemas.microsoft.com/office/drawing/2014/main" val="2438472544"/>
                    </a:ext>
                  </a:extLst>
                </a:gridCol>
                <a:gridCol w="1951630">
                  <a:extLst>
                    <a:ext uri="{9D8B030D-6E8A-4147-A177-3AD203B41FA5}">
                      <a16:colId xmlns:a16="http://schemas.microsoft.com/office/drawing/2014/main" val="4058958434"/>
                    </a:ext>
                  </a:extLst>
                </a:gridCol>
                <a:gridCol w="1205552">
                  <a:extLst>
                    <a:ext uri="{9D8B030D-6E8A-4147-A177-3AD203B41FA5}">
                      <a16:colId xmlns:a16="http://schemas.microsoft.com/office/drawing/2014/main" val="2919861678"/>
                    </a:ext>
                  </a:extLst>
                </a:gridCol>
              </a:tblGrid>
              <a:tr h="6907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agen</a:t>
                      </a:r>
                      <a:r>
                        <a:rPr lang="en-US" altLang="zh-CN" dirty="0"/>
                        <a:t>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#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i</a:t>
                      </a:r>
                      <a:r>
                        <a:rPr lang="en-US" dirty="0"/>
                        <a:t>ter</a:t>
                      </a:r>
                      <a:r>
                        <a:rPr lang="en-US" altLang="zh-CN" dirty="0"/>
                        <a:t>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error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revision</a:t>
                      </a:r>
                      <a:r>
                        <a:rPr lang="en-US" altLang="zh-CN" dirty="0"/>
                        <a:t>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410286"/>
                  </a:ext>
                </a:extLst>
              </a:tr>
              <a:tr h="6907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Stru</a:t>
                      </a:r>
                      <a:r>
                        <a:rPr lang="en-US" altLang="zh-CN" dirty="0"/>
                        <a:t>ctured(Ours)</a:t>
                      </a:r>
                    </a:p>
                    <a:p>
                      <a:pPr algn="ctr"/>
                      <a:r>
                        <a:rPr lang="en-US" dirty="0"/>
                        <a:t>op</a:t>
                      </a:r>
                      <a:r>
                        <a:rPr lang="en-US" altLang="zh-CN" dirty="0"/>
                        <a:t>us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4.6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36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calls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100%</a:t>
                      </a:r>
                    </a:p>
                    <a:p>
                      <a:pPr algn="ctr"/>
                      <a:r>
                        <a:rPr lang="en-US" altLang="zh-CN" dirty="0"/>
                        <a:t>mechanization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066373"/>
                  </a:ext>
                </a:extLst>
              </a:tr>
              <a:tr h="6907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Free(</a:t>
                      </a:r>
                      <a:r>
                        <a:rPr lang="en-US" altLang="zh-CN" dirty="0" err="1"/>
                        <a:t>claude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code)</a:t>
                      </a:r>
                    </a:p>
                    <a:p>
                      <a:pPr algn="ctr"/>
                      <a:r>
                        <a:rPr lang="en-US" altLang="zh-CN" dirty="0"/>
                        <a:t>opus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4.6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can't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solve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in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25min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363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495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B1A2C-79A1-ED1E-7DC5-92E87C8B2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</a:t>
            </a:r>
            <a:r>
              <a:rPr lang="en-US" altLang="zh-CN" dirty="0"/>
              <a:t>ation</a:t>
            </a:r>
            <a:r>
              <a:rPr lang="zh-CN" altLang="en-US" dirty="0"/>
              <a:t> </a:t>
            </a:r>
            <a:r>
              <a:rPr lang="en-US" altLang="zh-CN" dirty="0"/>
              <a:t>3/3:</a:t>
            </a:r>
            <a:r>
              <a:rPr lang="zh-CN" altLang="en-US" dirty="0"/>
              <a:t> </a:t>
            </a:r>
            <a:r>
              <a:rPr lang="en-US" altLang="zh-CN" dirty="0"/>
              <a:t>Knowledge</a:t>
            </a:r>
            <a:r>
              <a:rPr lang="zh-CN" altLang="en-US" dirty="0"/>
              <a:t> </a:t>
            </a:r>
            <a:r>
              <a:rPr lang="en-US" altLang="zh-CN" dirty="0"/>
              <a:t>extraction</a:t>
            </a:r>
            <a:r>
              <a:rPr lang="zh-CN" altLang="en-US" dirty="0"/>
              <a:t> </a:t>
            </a:r>
            <a:r>
              <a:rPr lang="en-US" altLang="zh-CN" dirty="0"/>
              <a:t>quality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9F7C8-9662-1796-484B-178F042CC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198718"/>
            <a:ext cx="6096000" cy="50519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Baseline:</a:t>
            </a:r>
            <a:r>
              <a:rPr lang="zh-CN" altLang="en-US" dirty="0"/>
              <a:t> </a:t>
            </a:r>
            <a:r>
              <a:rPr lang="en-US" altLang="zh-CN" dirty="0"/>
              <a:t>Prompt-based</a:t>
            </a:r>
            <a:r>
              <a:rPr lang="zh-CN" altLang="en-US" dirty="0"/>
              <a:t> </a:t>
            </a:r>
            <a:r>
              <a:rPr lang="en-US" altLang="zh-CN" dirty="0"/>
              <a:t>summarization</a:t>
            </a:r>
            <a:endParaRPr lang="en-US" dirty="0"/>
          </a:p>
          <a:p>
            <a:pPr marL="0" indent="0">
              <a:buNone/>
            </a:pP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solution:</a:t>
            </a:r>
            <a:r>
              <a:rPr lang="zh-CN" altLang="en-US" dirty="0"/>
              <a:t> </a:t>
            </a:r>
            <a:r>
              <a:rPr lang="en-US" altLang="zh-CN" dirty="0"/>
              <a:t>Digest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</a:p>
          <a:p>
            <a:pPr lvl="1"/>
            <a:r>
              <a:rPr lang="en-US" altLang="zh-CN" dirty="0"/>
              <a:t>Reinterpretation</a:t>
            </a:r>
          </a:p>
          <a:p>
            <a:pPr lvl="1"/>
            <a:r>
              <a:rPr lang="en-US" altLang="zh-CN" dirty="0"/>
              <a:t>Scope expansion</a:t>
            </a:r>
          </a:p>
          <a:p>
            <a:pPr lvl="1"/>
            <a:r>
              <a:rPr lang="en-US" altLang="zh-CN" dirty="0"/>
              <a:t>Progressive construction</a:t>
            </a:r>
          </a:p>
          <a:p>
            <a:pPr lvl="1"/>
            <a:r>
              <a:rPr lang="en-US" altLang="zh-CN" dirty="0"/>
              <a:t>Strategy templates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altLang="zh-CN" dirty="0"/>
              <a:t>Eval</a:t>
            </a:r>
            <a:r>
              <a:rPr lang="zh-CN" altLang="en-US" dirty="0"/>
              <a:t> </a:t>
            </a:r>
            <a:r>
              <a:rPr lang="en-US" altLang="zh-CN" dirty="0"/>
              <a:t>setup:</a:t>
            </a:r>
          </a:p>
          <a:p>
            <a:r>
              <a:rPr lang="en-US" dirty="0"/>
              <a:t>Input: </a:t>
            </a:r>
            <a:r>
              <a:rPr lang="en-US" altLang="zh-CN" dirty="0"/>
              <a:t>(</a:t>
            </a:r>
            <a:r>
              <a:rPr lang="en-US" dirty="0"/>
              <a:t>problem + proof/trace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→ digest agent → extracted lessons</a:t>
            </a:r>
          </a:p>
          <a:p>
            <a:r>
              <a:rPr lang="en-US" altLang="zh-CN" dirty="0"/>
              <a:t>Ground</a:t>
            </a:r>
            <a:r>
              <a:rPr lang="zh-CN" altLang="en-US" dirty="0"/>
              <a:t> </a:t>
            </a:r>
            <a:r>
              <a:rPr lang="en-US" altLang="zh-CN" dirty="0"/>
              <a:t>truth:</a:t>
            </a:r>
            <a:r>
              <a:rPr lang="zh-CN" altLang="en-US" dirty="0"/>
              <a:t> </a:t>
            </a:r>
            <a:r>
              <a:rPr lang="en-US" altLang="zh-CN" dirty="0"/>
              <a:t>Relational</a:t>
            </a:r>
            <a:r>
              <a:rPr lang="zh-CN" altLang="en-US" dirty="0"/>
              <a:t> </a:t>
            </a:r>
            <a:r>
              <a:rPr lang="en-US" altLang="zh-CN" dirty="0"/>
              <a:t>Graph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351091D-A52A-A30A-EB7B-52A3973569CC}"/>
              </a:ext>
            </a:extLst>
          </p:cNvPr>
          <p:cNvSpPr txBox="1">
            <a:spLocks/>
          </p:cNvSpPr>
          <p:nvPr/>
        </p:nvSpPr>
        <p:spPr>
          <a:xfrm>
            <a:off x="6095999" y="1198718"/>
            <a:ext cx="5791201" cy="308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Semantic</a:t>
            </a:r>
            <a:r>
              <a:rPr lang="zh-CN" altLang="en-US" dirty="0"/>
              <a:t> </a:t>
            </a:r>
            <a:r>
              <a:rPr lang="en-US" altLang="zh-CN" dirty="0"/>
              <a:t>match:</a:t>
            </a:r>
          </a:p>
          <a:p>
            <a:r>
              <a:rPr lang="en-US" altLang="zh-CN" sz="2400" dirty="0"/>
              <a:t>digest</a:t>
            </a:r>
            <a:r>
              <a:rPr lang="zh-CN" altLang="en-US" sz="2400" dirty="0"/>
              <a:t> </a:t>
            </a:r>
            <a:r>
              <a:rPr lang="en-US" altLang="zh-CN" sz="2400" dirty="0"/>
              <a:t>msg</a:t>
            </a:r>
            <a:r>
              <a:rPr lang="zh-CN" altLang="en-US" sz="2400" dirty="0"/>
              <a:t> </a:t>
            </a:r>
            <a:r>
              <a:rPr lang="en-US" altLang="zh-CN" sz="2400" dirty="0"/>
              <a:t>vs.</a:t>
            </a:r>
            <a:r>
              <a:rPr lang="zh-CN" altLang="en-US" sz="2400" dirty="0"/>
              <a:t> </a:t>
            </a:r>
            <a:r>
              <a:rPr lang="en-US" altLang="zh-CN" sz="2400" dirty="0"/>
              <a:t>ground</a:t>
            </a:r>
            <a:r>
              <a:rPr lang="zh-CN" altLang="en-US" sz="2400" dirty="0"/>
              <a:t> </a:t>
            </a:r>
            <a:r>
              <a:rPr lang="en-US" altLang="zh-CN" sz="2400" dirty="0"/>
              <a:t>truth</a:t>
            </a:r>
            <a:r>
              <a:rPr lang="zh-CN" altLang="en-US" sz="2400" dirty="0"/>
              <a:t> </a:t>
            </a:r>
            <a:r>
              <a:rPr lang="en-US" altLang="zh-CN" sz="2400" dirty="0"/>
              <a:t>edges</a:t>
            </a:r>
          </a:p>
          <a:p>
            <a:pPr marL="0" indent="0">
              <a:buNone/>
            </a:pPr>
            <a:r>
              <a:rPr lang="en-US" altLang="zh-CN" dirty="0"/>
              <a:t>Metrics:</a:t>
            </a:r>
            <a:r>
              <a:rPr lang="zh-CN" altLang="en-US" dirty="0"/>
              <a:t> </a:t>
            </a:r>
            <a:r>
              <a:rPr lang="en-US" altLang="zh-CN" dirty="0"/>
              <a:t>precision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recall</a:t>
            </a:r>
          </a:p>
          <a:p>
            <a:r>
              <a:rPr lang="en-US" altLang="zh-CN" sz="2400" dirty="0"/>
              <a:t>Of the connections the digest claims, how many match ground truth edges? </a:t>
            </a:r>
          </a:p>
          <a:p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 ground truth edges, how many does the digest recover?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98FA0-11BB-2369-669B-0AB85D861399}"/>
              </a:ext>
            </a:extLst>
          </p:cNvPr>
          <p:cNvSpPr txBox="1"/>
          <p:nvPr/>
        </p:nvSpPr>
        <p:spPr>
          <a:xfrm>
            <a:off x="6096000" y="4390023"/>
            <a:ext cx="6096000" cy="1512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latin typeface="Candara" panose="020E0502030303020204" pitchFamily="34" charset="0"/>
              </a:rPr>
              <a:t>preliminary result</a:t>
            </a:r>
            <a:r>
              <a:rPr lang="en-US" altLang="zh-CN" sz="2800" dirty="0">
                <a:latin typeface="Candara" panose="020E0502030303020204" pitchFamily="34" charset="0"/>
              </a:rPr>
              <a:t>(Hub-recovery</a:t>
            </a:r>
            <a:r>
              <a:rPr lang="zh-CN" altLang="en-US" sz="2800" dirty="0">
                <a:latin typeface="Candara" panose="020E0502030303020204" pitchFamily="34" charset="0"/>
              </a:rPr>
              <a:t> </a:t>
            </a:r>
            <a:r>
              <a:rPr lang="en-US" altLang="zh-CN" sz="2800" dirty="0">
                <a:latin typeface="Candara" panose="020E0502030303020204" pitchFamily="34" charset="0"/>
              </a:rPr>
              <a:t>only):</a:t>
            </a:r>
            <a:r>
              <a:rPr lang="en-US" sz="2800" dirty="0">
                <a:latin typeface="Candara" panose="020E0502030303020204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dirty="0">
              <a:latin typeface="Candara" panose="020E0502030303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dirty="0">
              <a:latin typeface="Candara" panose="020E0502030303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E0BE25-5975-88C5-1094-610B24A0C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79842"/>
              </p:ext>
            </p:extLst>
          </p:nvPr>
        </p:nvGraphicFramePr>
        <p:xfrm>
          <a:off x="6095999" y="5190467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570055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522676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02506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agent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</a:t>
                      </a:r>
                      <a:r>
                        <a:rPr lang="en-US" altLang="zh-CN" dirty="0"/>
                        <a:t>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73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prompt</a:t>
                      </a:r>
                      <a:r>
                        <a:rPr lang="en-US" altLang="zh-CN" dirty="0"/>
                        <a:t>-based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1/1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1/2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351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digest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agent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2/2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2/2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756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539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07D1-A033-12E6-E2EF-D2CA71A65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</a:t>
            </a:r>
            <a:r>
              <a:rPr lang="zh-CN" altLang="en-US" dirty="0"/>
              <a:t> </a:t>
            </a:r>
            <a:r>
              <a:rPr lang="en-US" altLang="zh-CN" dirty="0"/>
              <a:t>Study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B0808A-D578-365F-B598-F6E012C12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895409" cy="683525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84A088E-139D-B73F-0276-BFFCD6ED3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928691"/>
              </p:ext>
            </p:extLst>
          </p:nvPr>
        </p:nvGraphicFramePr>
        <p:xfrm>
          <a:off x="0" y="5555097"/>
          <a:ext cx="6096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281">
                  <a:extLst>
                    <a:ext uri="{9D8B030D-6E8A-4147-A177-3AD203B41FA5}">
                      <a16:colId xmlns:a16="http://schemas.microsoft.com/office/drawing/2014/main" val="9950555"/>
                    </a:ext>
                  </a:extLst>
                </a:gridCol>
                <a:gridCol w="1320942">
                  <a:extLst>
                    <a:ext uri="{9D8B030D-6E8A-4147-A177-3AD203B41FA5}">
                      <a16:colId xmlns:a16="http://schemas.microsoft.com/office/drawing/2014/main" val="2907282239"/>
                    </a:ext>
                  </a:extLst>
                </a:gridCol>
                <a:gridCol w="1833930">
                  <a:extLst>
                    <a:ext uri="{9D8B030D-6E8A-4147-A177-3AD203B41FA5}">
                      <a16:colId xmlns:a16="http://schemas.microsoft.com/office/drawing/2014/main" val="1546746480"/>
                    </a:ext>
                  </a:extLst>
                </a:gridCol>
                <a:gridCol w="1132847">
                  <a:extLst>
                    <a:ext uri="{9D8B030D-6E8A-4147-A177-3AD203B41FA5}">
                      <a16:colId xmlns:a16="http://schemas.microsoft.com/office/drawing/2014/main" val="3955271687"/>
                    </a:ext>
                  </a:extLst>
                </a:gridCol>
              </a:tblGrid>
              <a:tr h="6075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agen</a:t>
                      </a:r>
                      <a:r>
                        <a:rPr lang="en-US" altLang="zh-CN" dirty="0"/>
                        <a:t>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#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i</a:t>
                      </a:r>
                      <a:r>
                        <a:rPr lang="en-US" dirty="0"/>
                        <a:t>ter</a:t>
                      </a:r>
                      <a:r>
                        <a:rPr lang="en-US" altLang="zh-CN" dirty="0"/>
                        <a:t>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error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revision</a:t>
                      </a:r>
                      <a:r>
                        <a:rPr lang="en-US" altLang="zh-CN" dirty="0"/>
                        <a:t>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864700"/>
                  </a:ext>
                </a:extLst>
              </a:tr>
              <a:tr h="6075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Stru</a:t>
                      </a:r>
                      <a:r>
                        <a:rPr lang="en-US" altLang="zh-CN" dirty="0"/>
                        <a:t>ctured</a:t>
                      </a:r>
                    </a:p>
                    <a:p>
                      <a:pPr algn="ctr"/>
                      <a:r>
                        <a:rPr lang="en-US" dirty="0"/>
                        <a:t>op</a:t>
                      </a:r>
                      <a:r>
                        <a:rPr lang="en-US" altLang="zh-CN" dirty="0"/>
                        <a:t>us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4.6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36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calls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100%</a:t>
                      </a:r>
                    </a:p>
                    <a:p>
                      <a:pPr algn="ctr"/>
                      <a:r>
                        <a:rPr lang="en-US" altLang="zh-CN" dirty="0"/>
                        <a:t>mechanization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99053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7EA0DAD-46A1-6789-6C15-761531D9E35D}"/>
              </a:ext>
            </a:extLst>
          </p:cNvPr>
          <p:cNvSpPr txBox="1"/>
          <p:nvPr/>
        </p:nvSpPr>
        <p:spPr>
          <a:xfrm>
            <a:off x="0" y="1050878"/>
            <a:ext cx="569481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</a:t>
            </a:r>
            <a:r>
              <a:rPr lang="en-US" altLang="zh-CN" sz="2800" dirty="0"/>
              <a:t>bgoal</a:t>
            </a:r>
            <a:r>
              <a:rPr lang="zh-CN" altLang="en-US" sz="2800" dirty="0"/>
              <a:t> </a:t>
            </a:r>
            <a:r>
              <a:rPr lang="en-US" altLang="zh-CN" sz="2800" dirty="0"/>
              <a:t>strategy</a:t>
            </a:r>
            <a:r>
              <a:rPr lang="zh-CN" altLang="en-US" sz="2800" dirty="0"/>
              <a:t> </a:t>
            </a:r>
            <a:r>
              <a:rPr lang="en-US" altLang="zh-CN" sz="2800" dirty="0"/>
              <a:t>is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Better</a:t>
            </a:r>
            <a:r>
              <a:rPr lang="zh-CN" altLang="en-US" sz="2400" dirty="0"/>
              <a:t> </a:t>
            </a:r>
            <a:r>
              <a:rPr lang="en-US" altLang="zh-CN" sz="2400" dirty="0"/>
              <a:t>readability(full</a:t>
            </a:r>
            <a:r>
              <a:rPr lang="zh-CN" altLang="en-US" sz="2400" dirty="0"/>
              <a:t> </a:t>
            </a:r>
            <a:r>
              <a:rPr lang="en-US" altLang="zh-CN" sz="2400" dirty="0"/>
              <a:t>proof</a:t>
            </a:r>
            <a:r>
              <a:rPr lang="zh-CN" altLang="en-US" sz="2400" dirty="0"/>
              <a:t> </a:t>
            </a:r>
            <a:r>
              <a:rPr lang="en-US" altLang="zh-CN" sz="2400" dirty="0"/>
              <a:t>~300</a:t>
            </a:r>
            <a:r>
              <a:rPr lang="zh-CN" altLang="en-US" sz="2400" dirty="0"/>
              <a:t> </a:t>
            </a:r>
            <a:r>
              <a:rPr lang="en-US" altLang="zh-CN" sz="2400" dirty="0"/>
              <a:t>loc)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Could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checked</a:t>
            </a:r>
            <a:r>
              <a:rPr lang="zh-CN" altLang="en-US" sz="2400" dirty="0"/>
              <a:t> </a:t>
            </a:r>
            <a:r>
              <a:rPr lang="en-US" altLang="zh-CN" sz="2400" dirty="0"/>
              <a:t>using</a:t>
            </a:r>
            <a:r>
              <a:rPr lang="zh-CN" altLang="en-US" sz="2400" dirty="0"/>
              <a:t> </a:t>
            </a:r>
            <a:r>
              <a:rPr lang="en-US" altLang="zh-CN" sz="2400" dirty="0"/>
              <a:t>other</a:t>
            </a:r>
            <a:r>
              <a:rPr lang="zh-CN" altLang="en-US" sz="2400" dirty="0"/>
              <a:t> </a:t>
            </a:r>
            <a:r>
              <a:rPr lang="en-US" altLang="zh-CN" sz="2400" dirty="0"/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altLang="zh-CN" sz="2800" dirty="0"/>
              <a:t>M</a:t>
            </a:r>
            <a:r>
              <a:rPr lang="en-US" sz="2800" dirty="0"/>
              <a:t>echanization dominated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35</a:t>
            </a:r>
            <a:r>
              <a:rPr lang="zh-CN" altLang="en-US" sz="2400" dirty="0"/>
              <a:t> </a:t>
            </a:r>
            <a:r>
              <a:rPr lang="en-US" altLang="zh-CN" sz="2400" dirty="0"/>
              <a:t>iterations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formalization</a:t>
            </a:r>
            <a:r>
              <a:rPr lang="zh-CN" altLang="en-US" sz="2400" dirty="0"/>
              <a:t> </a:t>
            </a:r>
            <a:r>
              <a:rPr lang="en-US" altLang="zh-CN" sz="2400" dirty="0"/>
              <a:t>labor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800" dirty="0"/>
              <a:t>Data leakage masks true difficulty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/>
              <a:t>Opus</a:t>
            </a:r>
            <a:r>
              <a:rPr lang="zh-CN" altLang="en-US" sz="2400" dirty="0"/>
              <a:t> </a:t>
            </a:r>
            <a:r>
              <a:rPr lang="en-US" altLang="zh-CN" sz="2400" dirty="0"/>
              <a:t>4.6</a:t>
            </a:r>
            <a:r>
              <a:rPr lang="zh-CN" altLang="en-US" sz="2400" dirty="0"/>
              <a:t> </a:t>
            </a:r>
            <a:r>
              <a:rPr lang="en-US" altLang="zh-CN" sz="2400" dirty="0"/>
              <a:t>already</a:t>
            </a:r>
            <a:r>
              <a:rPr lang="zh-CN" altLang="en-US" sz="2400" dirty="0"/>
              <a:t> </a:t>
            </a:r>
            <a:r>
              <a:rPr lang="en-US" altLang="zh-CN" sz="2400" dirty="0"/>
              <a:t>knows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solution</a:t>
            </a:r>
            <a:r>
              <a:rPr lang="zh-CN" altLang="en-US" sz="2400" dirty="0"/>
              <a:t> </a:t>
            </a:r>
            <a:r>
              <a:rPr lang="en-US" altLang="zh-CN" sz="2400" dirty="0"/>
              <a:t>upfront!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/>
              <a:t>Co-curation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training</a:t>
            </a:r>
            <a:r>
              <a:rPr lang="zh-CN" altLang="en-US" sz="2400" dirty="0"/>
              <a:t> </a:t>
            </a:r>
            <a:r>
              <a:rPr lang="en-US" altLang="zh-CN" sz="2400" dirty="0"/>
              <a:t>vs.</a:t>
            </a:r>
            <a:r>
              <a:rPr lang="zh-CN" altLang="en-US" sz="2400" dirty="0"/>
              <a:t> </a:t>
            </a:r>
            <a:r>
              <a:rPr lang="en-US" altLang="zh-CN" sz="2400" dirty="0"/>
              <a:t>eval</a:t>
            </a:r>
            <a:r>
              <a:rPr lang="zh-CN" altLang="en-US" sz="2400" dirty="0"/>
              <a:t> </a:t>
            </a:r>
            <a:r>
              <a:rPr lang="en-US" altLang="zh-CN" sz="2400" dirty="0"/>
              <a:t>data</a:t>
            </a:r>
            <a:endParaRPr lang="en-US" sz="24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1D15843-C39D-1898-76F0-3AE25542F38C}"/>
              </a:ext>
            </a:extLst>
          </p:cNvPr>
          <p:cNvSpPr/>
          <p:nvPr/>
        </p:nvSpPr>
        <p:spPr>
          <a:xfrm>
            <a:off x="5895409" y="1889033"/>
            <a:ext cx="5895408" cy="312533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52602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C601-5F5D-48C1-8224-6C2719D99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</a:t>
            </a:r>
            <a:r>
              <a:rPr lang="zh-CN" altLang="en-US" dirty="0"/>
              <a:t> </a:t>
            </a:r>
            <a:r>
              <a:rPr lang="en-US" altLang="zh-CN" dirty="0"/>
              <a:t>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676F8-D6BC-6F25-6730-ADB77071E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7208"/>
            <a:ext cx="1164154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Full-scale</a:t>
            </a:r>
            <a:r>
              <a:rPr lang="zh-CN" altLang="en-US" dirty="0"/>
              <a:t> </a:t>
            </a:r>
            <a:r>
              <a:rPr lang="en-US" altLang="zh-CN" dirty="0"/>
              <a:t>evaluation</a:t>
            </a:r>
          </a:p>
          <a:p>
            <a:r>
              <a:rPr lang="en-US" dirty="0"/>
              <a:t>Run prover + digest agent on many problems from the curated dataset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altLang="zh-CN" dirty="0"/>
              <a:t>Mathematica/</a:t>
            </a:r>
            <a:r>
              <a:rPr lang="en-US" altLang="zh-CN" dirty="0" err="1"/>
              <a:t>sympy</a:t>
            </a:r>
            <a:r>
              <a:rPr lang="en-US" altLang="zh-CN" dirty="0"/>
              <a:t> integration</a:t>
            </a:r>
          </a:p>
          <a:p>
            <a:r>
              <a:rPr lang="en-US" altLang="zh-CN" dirty="0"/>
              <a:t>Reduces the gap between "mathematically correct" and "Lean-verified."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Formalized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curation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Improve</a:t>
            </a:r>
            <a:r>
              <a:rPr lang="zh-CN" altLang="en-US" dirty="0"/>
              <a:t> </a:t>
            </a:r>
            <a:r>
              <a:rPr lang="en-US" altLang="zh-CN" dirty="0"/>
              <a:t>digest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531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FD68-3DA2-18ED-7B22-EFDCE2F6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2513"/>
          </a:xfrm>
        </p:spPr>
        <p:txBody>
          <a:bodyPr/>
          <a:lstStyle/>
          <a:p>
            <a:r>
              <a:rPr lang="en-US" altLang="zh-CN" dirty="0"/>
              <a:t>Towards</a:t>
            </a:r>
            <a:r>
              <a:rPr lang="zh-CN" altLang="en-US" dirty="0"/>
              <a:t> </a:t>
            </a:r>
            <a:r>
              <a:rPr lang="en-US" dirty="0"/>
              <a:t>interpretable </a:t>
            </a:r>
            <a:r>
              <a:rPr lang="en-US" altLang="zh-CN" dirty="0"/>
              <a:t>AI</a:t>
            </a:r>
            <a:r>
              <a:rPr lang="en-US" dirty="0"/>
              <a:t> theorem proving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3EE8C-953A-A047-B845-831AF7E63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22" y="790465"/>
            <a:ext cx="2825088" cy="53454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Curation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6991FA-5EF5-621B-9536-63AC587E1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1" y="2139456"/>
            <a:ext cx="4172436" cy="338518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20E143-53E7-A22C-A1E7-ACD2E02F4BBF}"/>
              </a:ext>
            </a:extLst>
          </p:cNvPr>
          <p:cNvCxnSpPr/>
          <p:nvPr/>
        </p:nvCxnSpPr>
        <p:spPr>
          <a:xfrm>
            <a:off x="4394579" y="1615579"/>
            <a:ext cx="0" cy="5140063"/>
          </a:xfrm>
          <a:prstGeom prst="line">
            <a:avLst/>
          </a:prstGeom>
          <a:ln w="635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4D8B4-CDF3-6891-137D-7CE1252736F2}"/>
              </a:ext>
            </a:extLst>
          </p:cNvPr>
          <p:cNvCxnSpPr/>
          <p:nvPr/>
        </p:nvCxnSpPr>
        <p:spPr>
          <a:xfrm>
            <a:off x="8600364" y="1562725"/>
            <a:ext cx="0" cy="5140063"/>
          </a:xfrm>
          <a:prstGeom prst="line">
            <a:avLst/>
          </a:prstGeom>
          <a:ln w="635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623BF5-8981-6E94-50F4-FBBFB5880683}"/>
              </a:ext>
            </a:extLst>
          </p:cNvPr>
          <p:cNvSpPr txBox="1">
            <a:spLocks/>
          </p:cNvSpPr>
          <p:nvPr/>
        </p:nvSpPr>
        <p:spPr>
          <a:xfrm>
            <a:off x="5033941" y="790465"/>
            <a:ext cx="2825088" cy="534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Reasoning</a:t>
            </a:r>
            <a:r>
              <a:rPr lang="zh-CN" altLang="en-US" dirty="0"/>
              <a:t> </a:t>
            </a:r>
            <a:r>
              <a:rPr lang="en-US" altLang="zh-CN" dirty="0"/>
              <a:t>Loop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1DD05C2-A206-98B4-AD1F-71EE20B82D92}"/>
              </a:ext>
            </a:extLst>
          </p:cNvPr>
          <p:cNvSpPr txBox="1">
            <a:spLocks/>
          </p:cNvSpPr>
          <p:nvPr/>
        </p:nvSpPr>
        <p:spPr>
          <a:xfrm>
            <a:off x="9103249" y="750099"/>
            <a:ext cx="2825088" cy="534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Digest</a:t>
            </a:r>
            <a:r>
              <a:rPr lang="zh-CN" altLang="en-US" dirty="0"/>
              <a:t> </a:t>
            </a:r>
            <a:r>
              <a:rPr lang="en-US" altLang="zh-CN" dirty="0"/>
              <a:t>Lessons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EA2295-7AE8-EDF1-E1FC-8F9828BF7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065" y="1562725"/>
            <a:ext cx="3402839" cy="509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60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2242</Words>
  <Application>Microsoft Macintosh PowerPoint</Application>
  <PresentationFormat>Widescreen</PresentationFormat>
  <Paragraphs>273</Paragraphs>
  <Slides>12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Candara</vt:lpstr>
      <vt:lpstr>Office Theme</vt:lpstr>
      <vt:lpstr>Structured AI Theorem Proving with Human-Learnable Knowledge Extraction</vt:lpstr>
      <vt:lpstr>PowerPoint Presentation</vt:lpstr>
      <vt:lpstr>Problem Statement</vt:lpstr>
      <vt:lpstr>Our Solution 1/2: Prover Agent</vt:lpstr>
      <vt:lpstr>Our Solution 2/2: Digest agent</vt:lpstr>
      <vt:lpstr>Evaluation 1/3: Dataset Curation</vt:lpstr>
      <vt:lpstr>Evaluation 1/3: Dataset Curation Pipeline</vt:lpstr>
      <vt:lpstr>Evaluation 2/3: Prover effectiveness</vt:lpstr>
      <vt:lpstr>Evaluation 3/3: Knowledge extraction quality</vt:lpstr>
      <vt:lpstr>Case Study 1:</vt:lpstr>
      <vt:lpstr>Future work</vt:lpstr>
      <vt:lpstr>Towards interpretable AI theorem proving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Zihan</dc:creator>
  <cp:lastModifiedBy>Zheng, Zihan</cp:lastModifiedBy>
  <cp:revision>253</cp:revision>
  <dcterms:created xsi:type="dcterms:W3CDTF">2026-03-28T02:16:31Z</dcterms:created>
  <dcterms:modified xsi:type="dcterms:W3CDTF">2026-04-02T15:39:21Z</dcterms:modified>
</cp:coreProperties>
</file>