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9202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Candara"/>
              </a:rPr>
              <a:t>Structured AI Theorem Proving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288036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andara"/>
              </a:rPr>
              <a:t>with Human-Learnable Knowledge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4800600"/>
            <a:ext cx="97533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44444"/>
                </a:solidFill>
                <a:latin typeface="Candara"/>
              </a:rPr>
              <a:t>Zheng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Dataset: asymmetric utility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3" y="891540"/>
            <a:ext cx="117040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ndara"/>
              </a:rPr>
              <a:t>Our relational graph: problems linked by shared strategy / technique. Two directions of use, one solved, one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7A3A"/>
                </a:solidFill>
                <a:latin typeface="Candara"/>
              </a:rPr>
              <a:t>Forward direction —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33" y="2194560"/>
            <a:ext cx="5730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Graph edge = ground truth: "these two problems share a strategy / technique"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Hub nodes = recurring techniques (deterministic top-3 + degree ≥ 10)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Enables hub-recall benchmarks, transfer experiments, conditioned generation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Already used in our midterm preliminary results (digest hub recovery)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4D3A"/>
                </a:solidFill>
                <a:latin typeface="Candara"/>
              </a:rPr>
              <a:t>Reverse direction —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764" y="2194560"/>
            <a:ext cx="5730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Given two digest outputs (NL abstractions), are they "the same intuition"?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Different wording, same idea — vs — same wording, too problem-specific?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Semantic equivalence in NL math reasoning is unsolved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Blocks direct evaluation of digest agent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33" y="6309360"/>
            <a:ext cx="117040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ndara"/>
              </a:rPr>
              <a:t>Contribution: dataset is ready for forward use.   Limitation: reverse-direction evaluation is the open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Opening a can of worms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3" y="891540"/>
            <a:ext cx="117040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ndara"/>
              </a:rPr>
              <a:t>We gave gpt-5.4 the full reasoning trace and asked, three ways, to extract the abstract strategy. The trace explicitly contains the words "by pigeonhole".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406349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Naive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" y="2057400"/>
            <a:ext cx="3779425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333333"/>
                </a:solidFill>
                <a:latin typeface="Candara"/>
              </a:rPr>
              <a:t>"think of the objects as vectors, and look for a subset whose directions align enough to prevent too much cancellation… projecting vectors onto carefully chosen directions…"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491" y="1645920"/>
            <a:ext cx="406349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Directed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134" y="2057400"/>
            <a:ext cx="3779425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333333"/>
                </a:solidFill>
                <a:latin typeface="Candara"/>
              </a:rPr>
              <a:t>"directional or component-wise alignment, while cancellation is the main obstruction… discrete partitioning, decomposition into components, and continuous averaging…"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6983" y="1645920"/>
            <a:ext cx="40647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Atomic-format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352" y="2057400"/>
            <a:ext cx="3779425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333333"/>
                </a:solidFill>
                <a:latin typeface="Candara"/>
              </a:rPr>
              <a:t>Trigger: lower bound on the size of a sum formed by selecting some vectors/items that can cancel…</a:t>
            </a:r>
            <a:br/>
            <a:r>
              <a:t>Action: Choose a direction, keep only the items with nonnegative projection… average over all directions.</a:t>
            </a:r>
            <a:br/>
            <a:r>
              <a:t>Boundary: weakens in higher dimensions or when no projection-based lower bound controls the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33" y="5897880"/>
            <a:ext cx="11704027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Three prompts, zero "pigeonhole." The model paraphrases the application; it doesn't name the principle. Recovering edges to related problems — let alone the hub — is a categorical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Sorry-with-witness: sympy closes the analytic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3" y="891540"/>
            <a:ext cx="117040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ndara"/>
              </a:rPr>
              <a:t>Averaging proof had 3 sorry's. One is a definite integral. Lean can't close it; sympy can in one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4D3A"/>
                </a:solidFill>
                <a:latin typeface="Candara"/>
              </a:rPr>
              <a:t>Without sympy — pure 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" y="2125980"/>
            <a:ext cx="597393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onsolas"/>
              </a:rPr>
              <a:t>lemma integral_max_cos :</a:t>
            </a:r>
            <a:br/>
            <a:r>
              <a:t>    ∫ u in (0 : ℝ)..(2 * Real.pi), max (Real.cos u) 0 = 2 := by</a:t>
            </a:r>
            <a:br/>
            <a:r>
              <a:t>  sorry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33" y="3497580"/>
            <a:ext cx="585201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33333"/>
                </a:solidFill>
                <a:latin typeface="Candara"/>
              </a:rPr>
              <a:t>Mathlib has no closed form. To close in pure Lean: FTC + integral splitting at the zero of cos + periodicity. Substantial bespoke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7A3A"/>
                </a:solidFill>
                <a:latin typeface="Candara"/>
              </a:rPr>
              <a:t>With sympy-witness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764" y="2125980"/>
            <a:ext cx="597393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onsolas"/>
              </a:rPr>
              <a:t>import sympy as sp</a:t>
            </a:r>
            <a:br/>
            <a:r>
              <a:t>u = sp.Symbol('u', real=True)</a:t>
            </a:r>
            <a:br/>
            <a:r>
              <a:t>result = sp.integrate(</a:t>
            </a:r>
            <a:br/>
            <a:r>
              <a:t>    sp.Max(sp.cos(u), 0), (u, 0, 2*sp.pi))</a:t>
            </a:r>
            <a:br/>
            <a:r>
              <a:t># result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764" y="3497580"/>
            <a:ext cx="585201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33333"/>
                </a:solidFill>
                <a:latin typeface="Candara"/>
              </a:rPr>
              <a:t>One call. Trusted external witness. Lean keeps the sorry; we accept it because sympy independently verified the underlying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33" y="5897880"/>
            <a:ext cx="11704027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ndara"/>
              </a:rPr>
              <a:t>Decompose work by tool. Each tool is a dense information sink. → Next: decompose work by model capability — planning, reasoning, coding, formalization.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Evaluation (x/4): Ablation</a:t>
            </a:r>
          </a:p>
        </p:txBody>
      </p:sp>
      <p:pic>
        <p:nvPicPr>
          <p:cNvPr id="3" name="Picture 2" descr="eq_harmonic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6" y="822960"/>
            <a:ext cx="266801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7923" y="822960"/>
            <a:ext cx="91437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onsolas"/>
              </a:rPr>
              <a:t>def harmonicSeq (n : ℕ) : ℝ := ∑ k ∈ Finset.Icc 1 n, (1:ℝ) / k</a:t>
            </a:r>
            <a:br/>
            <a:r>
              <a:t>theorem harmonic_sequence_diverges : ¬ ∃ l : ℝ, Tendsto harmonicSeq atTop (nhds 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406349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Opus 4.7, three runs ✅</a:t>
            </a:r>
          </a:p>
        </p:txBody>
      </p:sp>
      <p:pic>
        <p:nvPicPr>
          <p:cNvPr id="6" name="Picture 5" descr="code_strong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67" y="2057400"/>
            <a:ext cx="3031957" cy="2400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526280"/>
            <a:ext cx="4063491" cy="22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Candara"/>
              </a:rPr>
              <a:t>1. Mechanical — `∑ k in S` → `∑ k ∈ S`</a:t>
            </a:r>
            <a:br/>
            <a:r>
              <a:t>2. Strategy — `simp_rw` failed; `funext` lifts pointwise eq to function eq</a:t>
            </a:r>
            <a:br/>
            <a:r>
              <a:t>3. Success — clean compile, 0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491" y="1645920"/>
            <a:ext cx="406349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GPT 5.4 mini, ten rounds 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63491" y="2057400"/>
          <a:ext cx="40634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497"/>
                <a:gridCol w="1354497"/>
                <a:gridCol w="1354497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Category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Hallucinated API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Type mismatch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Type mismatch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4–10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Mechanistic loop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9" descr="code_weak_attempt4_excer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491" y="3693538"/>
            <a:ext cx="4063491" cy="4310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491" y="4389120"/>
            <a:ext cx="4063491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same `funext` insight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same Mathlib lemma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same contradiction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491" y="6035040"/>
            <a:ext cx="40634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ndara"/>
              </a:rPr>
              <a:t>→ correct strategy + proof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6983" y="1645920"/>
            <a:ext cx="40647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6983" y="2057400"/>
            <a:ext cx="4064711" cy="473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Capability decomposition: planning · reasoning · coding · formalization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Weak ≈ strong on planning + reasoning (right strategy at attempt 4)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Weak fails at formalization (Lean tactic ordering, can't close the bridge)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Coding not tested here — covered by sympy-witness above</a:t>
            </a:r>
          </a:p>
          <a:p>
            <a:pPr marL="228600" indent="-228600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ndara"/>
              </a:rPr>
              <a:t>Implication: cheap model (~6×) for planning + reasoning; strong reserved for formalization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9154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7A3A"/>
                </a:solidFill>
                <a:latin typeface="Candara"/>
              </a:rPr>
              <a:t>Scaling already-built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" y="1440180"/>
            <a:ext cx="5730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Sympy-witness coverage across more sorry'd proofs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Ablation matrix expanded (more problems × more weak models)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Digest probe across more proof traces — quantify the categorical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33" y="5349240"/>
            <a:ext cx="57300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444444"/>
                </a:solidFill>
                <a:latin typeface="Candara"/>
              </a:rPr>
              <a:t>Infrastructure is in place; ran into the weekly usage-limit on the coding plan during benchmarking. At-scale evaluation will run after the limit resets.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89154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4D3A"/>
                </a:solidFill>
                <a:latin typeface="Candara"/>
              </a:rPr>
              <a:t>New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764" y="1440180"/>
            <a:ext cx="5852013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Atomic analysis (Pikachu345's 3 criteria): per-step intuition, boundary, counterexample — stricter standard for digest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Reasoning Arbitration: proactive delegation to tools — extension of sorry-with-witness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Broader tool integration: Mathematica, OR-Tools, Z3 — multi-tool dense information sinks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Closing the digest-equivalence problem: methodology for measuring when two NL digests describe the same intuition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